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15"/>
  </p:notesMasterIdLst>
  <p:sldIdLst>
    <p:sldId id="264" r:id="rId2"/>
    <p:sldId id="265" r:id="rId3"/>
    <p:sldId id="359" r:id="rId4"/>
    <p:sldId id="367" r:id="rId5"/>
    <p:sldId id="366" r:id="rId6"/>
    <p:sldId id="360" r:id="rId7"/>
    <p:sldId id="361" r:id="rId8"/>
    <p:sldId id="362" r:id="rId9"/>
    <p:sldId id="363" r:id="rId10"/>
    <p:sldId id="364" r:id="rId11"/>
    <p:sldId id="357" r:id="rId12"/>
    <p:sldId id="358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272" autoAdjust="0"/>
  </p:normalViewPr>
  <p:slideViewPr>
    <p:cSldViewPr snapToGrid="0">
      <p:cViewPr varScale="1">
        <p:scale>
          <a:sx n="64" d="100"/>
          <a:sy n="64" d="100"/>
        </p:scale>
        <p:origin x="11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7340CC-E9EF-47A6-A216-46C112EFFA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DA669C-9082-4D1A-9189-BFAF231D4B3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NIFTY 50 Overview</a:t>
          </a:r>
          <a:r>
            <a:rPr lang="en-IN" b="0" i="0"/>
            <a:t>:</a:t>
          </a:r>
          <a:endParaRPr lang="en-IN"/>
        </a:p>
      </dgm:t>
    </dgm:pt>
    <dgm:pt modelId="{EA8DC0FE-96BD-4375-ACD7-2C9285B72F30}" type="parTrans" cxnId="{097FDB82-EBA5-4C5F-9BA7-07C3DA66DD91}">
      <dgm:prSet/>
      <dgm:spPr/>
      <dgm:t>
        <a:bodyPr/>
        <a:lstStyle/>
        <a:p>
          <a:endParaRPr lang="en-IN"/>
        </a:p>
      </dgm:t>
    </dgm:pt>
    <dgm:pt modelId="{5B600F23-9E15-485A-BE44-B3EA244F6A37}" type="sibTrans" cxnId="{097FDB82-EBA5-4C5F-9BA7-07C3DA66DD91}">
      <dgm:prSet/>
      <dgm:spPr/>
      <dgm:t>
        <a:bodyPr/>
        <a:lstStyle/>
        <a:p>
          <a:endParaRPr lang="en-IN"/>
        </a:p>
      </dgm:t>
    </dgm:pt>
    <dgm:pt modelId="{F0D89975-B302-4C48-8250-F2932D9FBE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Benchmark Indian stock market index.</a:t>
          </a:r>
        </a:p>
      </dgm:t>
    </dgm:pt>
    <dgm:pt modelId="{85860071-D3D9-4FE8-8D24-E6AFA4B47137}" type="parTrans" cxnId="{71A69CCE-DD5A-4E1D-B079-54C69A4A22F3}">
      <dgm:prSet/>
      <dgm:spPr/>
      <dgm:t>
        <a:bodyPr/>
        <a:lstStyle/>
        <a:p>
          <a:endParaRPr lang="en-IN"/>
        </a:p>
      </dgm:t>
    </dgm:pt>
    <dgm:pt modelId="{7DDD5A05-FC27-4830-851D-C988FC974015}" type="sibTrans" cxnId="{71A69CCE-DD5A-4E1D-B079-54C69A4A22F3}">
      <dgm:prSet/>
      <dgm:spPr/>
      <dgm:t>
        <a:bodyPr/>
        <a:lstStyle/>
        <a:p>
          <a:endParaRPr lang="en-IN"/>
        </a:p>
      </dgm:t>
    </dgm:pt>
    <dgm:pt modelId="{365D61CA-0AB9-4B2E-B768-FDB66A033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Represents the weighted average of 50 of the largest Indian companies listed on the National Stock Exchange (NSE).</a:t>
          </a:r>
        </a:p>
      </dgm:t>
    </dgm:pt>
    <dgm:pt modelId="{A1968656-B01E-4D59-9480-EB9FFCCC3B4C}" type="parTrans" cxnId="{C9B05BAB-E1A4-4A08-8E99-3315B0BEBD25}">
      <dgm:prSet/>
      <dgm:spPr/>
      <dgm:t>
        <a:bodyPr/>
        <a:lstStyle/>
        <a:p>
          <a:endParaRPr lang="en-IN"/>
        </a:p>
      </dgm:t>
    </dgm:pt>
    <dgm:pt modelId="{02175F7F-CBD4-4176-B0A0-FD40C6FE23AE}" type="sibTrans" cxnId="{C9B05BAB-E1A4-4A08-8E99-3315B0BEBD25}">
      <dgm:prSet/>
      <dgm:spPr/>
      <dgm:t>
        <a:bodyPr/>
        <a:lstStyle/>
        <a:p>
          <a:endParaRPr lang="en-IN"/>
        </a:p>
      </dgm:t>
    </dgm:pt>
    <dgm:pt modelId="{678122F5-7185-4B0A-A15A-C50C14825D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One of the two main stock indices in India, alongside the BSE SENSEX.</a:t>
          </a:r>
        </a:p>
      </dgm:t>
    </dgm:pt>
    <dgm:pt modelId="{28EB8820-0DBC-4714-9F60-F762362AAB7F}" type="parTrans" cxnId="{A55A6DC8-D45D-4558-B433-8DAF4AC0E759}">
      <dgm:prSet/>
      <dgm:spPr/>
      <dgm:t>
        <a:bodyPr/>
        <a:lstStyle/>
        <a:p>
          <a:endParaRPr lang="en-IN"/>
        </a:p>
      </dgm:t>
    </dgm:pt>
    <dgm:pt modelId="{06E323C0-371F-47C9-9D6F-7CE253F64821}" type="sibTrans" cxnId="{A55A6DC8-D45D-4558-B433-8DAF4AC0E759}">
      <dgm:prSet/>
      <dgm:spPr/>
      <dgm:t>
        <a:bodyPr/>
        <a:lstStyle/>
        <a:p>
          <a:endParaRPr lang="en-IN"/>
        </a:p>
      </dgm:t>
    </dgm:pt>
    <dgm:pt modelId="{545E8AFA-C2EC-4DC8-9774-D4150D831D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Data Description</a:t>
          </a:r>
          <a:r>
            <a:rPr lang="en-IN" b="0" i="0"/>
            <a:t>:</a:t>
          </a:r>
        </a:p>
      </dgm:t>
    </dgm:pt>
    <dgm:pt modelId="{4D09D309-C817-49C5-B07C-BF462532C764}" type="parTrans" cxnId="{6FA0B025-FA46-4862-81A9-91E5ED926A8D}">
      <dgm:prSet/>
      <dgm:spPr/>
      <dgm:t>
        <a:bodyPr/>
        <a:lstStyle/>
        <a:p>
          <a:endParaRPr lang="en-IN"/>
        </a:p>
      </dgm:t>
    </dgm:pt>
    <dgm:pt modelId="{76EE1370-66AB-4D5C-852B-CFD68A59EF2B}" type="sibTrans" cxnId="{6FA0B025-FA46-4862-81A9-91E5ED926A8D}">
      <dgm:prSet/>
      <dgm:spPr/>
      <dgm:t>
        <a:bodyPr/>
        <a:lstStyle/>
        <a:p>
          <a:endParaRPr lang="en-IN"/>
        </a:p>
      </dgm:t>
    </dgm:pt>
    <dgm:pt modelId="{2C20E97C-2ABE-4C1B-83AC-94A9116705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Content</a:t>
          </a:r>
          <a:r>
            <a:rPr lang="en-IN" b="0" i="0"/>
            <a:t>:</a:t>
          </a:r>
        </a:p>
      </dgm:t>
    </dgm:pt>
    <dgm:pt modelId="{9FFEE867-01F9-418A-88E1-2CDE19294553}" type="parTrans" cxnId="{2314DEFD-276F-4193-AF3C-ABDF939F328F}">
      <dgm:prSet/>
      <dgm:spPr/>
      <dgm:t>
        <a:bodyPr/>
        <a:lstStyle/>
        <a:p>
          <a:endParaRPr lang="en-IN"/>
        </a:p>
      </dgm:t>
    </dgm:pt>
    <dgm:pt modelId="{465739C7-77D0-4AFC-B03C-1AF874361530}" type="sibTrans" cxnId="{2314DEFD-276F-4193-AF3C-ABDF939F328F}">
      <dgm:prSet/>
      <dgm:spPr/>
      <dgm:t>
        <a:bodyPr/>
        <a:lstStyle/>
        <a:p>
          <a:endParaRPr lang="en-IN"/>
        </a:p>
      </dgm:t>
    </dgm:pt>
    <dgm:pt modelId="{5D9D1A38-391E-47B9-90A0-9497E3D5CE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Price history and trading volumes of the fifty stocks in the NIFTY 50 index.</a:t>
          </a:r>
        </a:p>
      </dgm:t>
    </dgm:pt>
    <dgm:pt modelId="{62932177-57EF-4956-99AB-429054366A46}" type="parTrans" cxnId="{FFA33D12-5468-4D69-AFBB-C8F98F8721C4}">
      <dgm:prSet/>
      <dgm:spPr/>
      <dgm:t>
        <a:bodyPr/>
        <a:lstStyle/>
        <a:p>
          <a:endParaRPr lang="en-IN"/>
        </a:p>
      </dgm:t>
    </dgm:pt>
    <dgm:pt modelId="{57640370-BE3C-4720-B25F-3C591AF4D2B3}" type="sibTrans" cxnId="{FFA33D12-5468-4D69-AFBB-C8F98F8721C4}">
      <dgm:prSet/>
      <dgm:spPr/>
      <dgm:t>
        <a:bodyPr/>
        <a:lstStyle/>
        <a:p>
          <a:endParaRPr lang="en-IN"/>
        </a:p>
      </dgm:t>
    </dgm:pt>
    <dgm:pt modelId="{EBA1D773-8A4E-4946-A6A5-9D6B48BCF96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Source</a:t>
          </a:r>
          <a:r>
            <a:rPr lang="en-IN" b="0" i="0"/>
            <a:t>:</a:t>
          </a:r>
        </a:p>
      </dgm:t>
    </dgm:pt>
    <dgm:pt modelId="{62602044-097A-4747-85BC-745F855636DE}" type="parTrans" cxnId="{E4987273-8A7D-4DE2-BE48-493170BE404A}">
      <dgm:prSet/>
      <dgm:spPr/>
      <dgm:t>
        <a:bodyPr/>
        <a:lstStyle/>
        <a:p>
          <a:endParaRPr lang="en-IN"/>
        </a:p>
      </dgm:t>
    </dgm:pt>
    <dgm:pt modelId="{17DCD755-CED5-4F75-850D-558C5C6404D2}" type="sibTrans" cxnId="{E4987273-8A7D-4DE2-BE48-493170BE404A}">
      <dgm:prSet/>
      <dgm:spPr/>
      <dgm:t>
        <a:bodyPr/>
        <a:lstStyle/>
        <a:p>
          <a:endParaRPr lang="en-IN"/>
        </a:p>
      </dgm:t>
    </dgm:pt>
    <dgm:pt modelId="{137FB3E7-0C59-4B83-8FE5-175B28F7FB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National Stock Exchange (NSE) India.</a:t>
          </a:r>
        </a:p>
      </dgm:t>
    </dgm:pt>
    <dgm:pt modelId="{CF4B0BC5-D3D5-42FE-8377-1A41150CFC11}" type="parTrans" cxnId="{6171E998-C270-4066-9218-0DE3CFF5E17F}">
      <dgm:prSet/>
      <dgm:spPr/>
      <dgm:t>
        <a:bodyPr/>
        <a:lstStyle/>
        <a:p>
          <a:endParaRPr lang="en-IN"/>
        </a:p>
      </dgm:t>
    </dgm:pt>
    <dgm:pt modelId="{6D60F627-2B19-46BE-9562-63972BAF5C18}" type="sibTrans" cxnId="{6171E998-C270-4066-9218-0DE3CFF5E17F}">
      <dgm:prSet/>
      <dgm:spPr/>
      <dgm:t>
        <a:bodyPr/>
        <a:lstStyle/>
        <a:p>
          <a:endParaRPr lang="en-IN"/>
        </a:p>
      </dgm:t>
    </dgm:pt>
    <dgm:pt modelId="{4C1EF229-6406-417D-9E8E-DA49FF9FA44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Granularity</a:t>
          </a:r>
          <a:r>
            <a:rPr lang="en-IN" b="0" i="0"/>
            <a:t>:</a:t>
          </a:r>
        </a:p>
      </dgm:t>
    </dgm:pt>
    <dgm:pt modelId="{65C4D2EA-0104-4DD5-9B64-C736FD8B1BE8}" type="parTrans" cxnId="{B194B674-8C1D-4646-9701-1D842F8493EC}">
      <dgm:prSet/>
      <dgm:spPr/>
      <dgm:t>
        <a:bodyPr/>
        <a:lstStyle/>
        <a:p>
          <a:endParaRPr lang="en-IN"/>
        </a:p>
      </dgm:t>
    </dgm:pt>
    <dgm:pt modelId="{16E7F607-2482-4134-903A-95228A475772}" type="sibTrans" cxnId="{B194B674-8C1D-4646-9701-1D842F8493EC}">
      <dgm:prSet/>
      <dgm:spPr/>
      <dgm:t>
        <a:bodyPr/>
        <a:lstStyle/>
        <a:p>
          <a:endParaRPr lang="en-IN"/>
        </a:p>
      </dgm:t>
    </dgm:pt>
    <dgm:pt modelId="{F218CB91-52F7-489C-8D91-BBE6967E8E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Day-level data.</a:t>
          </a:r>
        </a:p>
      </dgm:t>
    </dgm:pt>
    <dgm:pt modelId="{A0D82B75-3284-4969-AF32-0540268BE1C2}" type="parTrans" cxnId="{83EAC2CE-6F5C-41C1-8E05-E98045B2CFEE}">
      <dgm:prSet/>
      <dgm:spPr/>
      <dgm:t>
        <a:bodyPr/>
        <a:lstStyle/>
        <a:p>
          <a:endParaRPr lang="en-IN"/>
        </a:p>
      </dgm:t>
    </dgm:pt>
    <dgm:pt modelId="{10B8F087-62AA-43B9-BC38-8431BD815440}" type="sibTrans" cxnId="{83EAC2CE-6F5C-41C1-8E05-E98045B2CFEE}">
      <dgm:prSet/>
      <dgm:spPr/>
      <dgm:t>
        <a:bodyPr/>
        <a:lstStyle/>
        <a:p>
          <a:endParaRPr lang="en-IN"/>
        </a:p>
      </dgm:t>
    </dgm:pt>
    <dgm:pt modelId="{EB944E91-196F-4274-B614-07FF55075B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Format</a:t>
          </a:r>
          <a:r>
            <a:rPr lang="en-IN" b="0" i="0"/>
            <a:t>:</a:t>
          </a:r>
        </a:p>
      </dgm:t>
    </dgm:pt>
    <dgm:pt modelId="{982F2CDC-A6C8-41D3-B9C9-C61EB7FF37F0}" type="parTrans" cxnId="{4318ACB1-35CD-4DAD-841B-9AFFE52CF963}">
      <dgm:prSet/>
      <dgm:spPr/>
      <dgm:t>
        <a:bodyPr/>
        <a:lstStyle/>
        <a:p>
          <a:endParaRPr lang="en-IN"/>
        </a:p>
      </dgm:t>
    </dgm:pt>
    <dgm:pt modelId="{DD543949-8004-4E0E-950F-D9F4CBD04D69}" type="sibTrans" cxnId="{4318ACB1-35CD-4DAD-841B-9AFFE52CF963}">
      <dgm:prSet/>
      <dgm:spPr/>
      <dgm:t>
        <a:bodyPr/>
        <a:lstStyle/>
        <a:p>
          <a:endParaRPr lang="en-IN"/>
        </a:p>
      </dgm:t>
    </dgm:pt>
    <dgm:pt modelId="{C62F338F-E43C-45CE-A01A-98DB0FE783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Split across .csv files for each stock.</a:t>
          </a:r>
        </a:p>
      </dgm:t>
    </dgm:pt>
    <dgm:pt modelId="{E8B3F3C8-F72B-4C32-9AEA-4EE7F7A58BA0}" type="parTrans" cxnId="{038F662E-D3FB-412C-80C3-E26B2777EFCF}">
      <dgm:prSet/>
      <dgm:spPr/>
      <dgm:t>
        <a:bodyPr/>
        <a:lstStyle/>
        <a:p>
          <a:endParaRPr lang="en-IN"/>
        </a:p>
      </dgm:t>
    </dgm:pt>
    <dgm:pt modelId="{6C283980-3267-4783-A626-EEC7DE2CE4F3}" type="sibTrans" cxnId="{038F662E-D3FB-412C-80C3-E26B2777EFCF}">
      <dgm:prSet/>
      <dgm:spPr/>
      <dgm:t>
        <a:bodyPr/>
        <a:lstStyle/>
        <a:p>
          <a:endParaRPr lang="en-IN"/>
        </a:p>
      </dgm:t>
    </dgm:pt>
    <dgm:pt modelId="{D5C60445-559D-4BA5-8684-B8EB3A1821B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Includes a metadata file with macro-information about the stocks.</a:t>
          </a:r>
        </a:p>
      </dgm:t>
    </dgm:pt>
    <dgm:pt modelId="{37EBF6F4-27A8-4553-933E-118E9A5FCAFD}" type="parTrans" cxnId="{5BBB3F22-A883-4CCA-9BC2-AD80A282EB37}">
      <dgm:prSet/>
      <dgm:spPr/>
      <dgm:t>
        <a:bodyPr/>
        <a:lstStyle/>
        <a:p>
          <a:endParaRPr lang="en-IN"/>
        </a:p>
      </dgm:t>
    </dgm:pt>
    <dgm:pt modelId="{A4CF6624-8BFC-46EB-A22B-99A3D4E5AF78}" type="sibTrans" cxnId="{5BBB3F22-A883-4CCA-9BC2-AD80A282EB37}">
      <dgm:prSet/>
      <dgm:spPr/>
      <dgm:t>
        <a:bodyPr/>
        <a:lstStyle/>
        <a:p>
          <a:endParaRPr lang="en-IN"/>
        </a:p>
      </dgm:t>
    </dgm:pt>
    <dgm:pt modelId="{5FC3C82E-23E0-4242-922D-6D004C92EA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Time Span</a:t>
          </a:r>
          <a:r>
            <a:rPr lang="en-IN" b="0" i="0"/>
            <a:t>:</a:t>
          </a:r>
        </a:p>
      </dgm:t>
    </dgm:pt>
    <dgm:pt modelId="{6434FEFC-0DE2-41FE-9549-8191D4C40CEC}" type="parTrans" cxnId="{29591CC5-6258-41E9-806A-EF43FB1BC9AE}">
      <dgm:prSet/>
      <dgm:spPr/>
      <dgm:t>
        <a:bodyPr/>
        <a:lstStyle/>
        <a:p>
          <a:endParaRPr lang="en-IN"/>
        </a:p>
      </dgm:t>
    </dgm:pt>
    <dgm:pt modelId="{AE3260AE-FF23-46E8-9326-2356BB7AEB82}" type="sibTrans" cxnId="{29591CC5-6258-41E9-806A-EF43FB1BC9AE}">
      <dgm:prSet/>
      <dgm:spPr/>
      <dgm:t>
        <a:bodyPr/>
        <a:lstStyle/>
        <a:p>
          <a:endParaRPr lang="en-IN"/>
        </a:p>
      </dgm:t>
    </dgm:pt>
    <dgm:pt modelId="{FB82C231-2972-45C0-ABDF-30A5CED956D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From 1st January, 2000 to 30th April, 2021.</a:t>
          </a:r>
        </a:p>
      </dgm:t>
    </dgm:pt>
    <dgm:pt modelId="{A187CF84-52FA-4D35-BDD3-A6D71BEDA632}" type="parTrans" cxnId="{307EB003-BEF9-429A-BF73-B2B9B875614D}">
      <dgm:prSet/>
      <dgm:spPr/>
      <dgm:t>
        <a:bodyPr/>
        <a:lstStyle/>
        <a:p>
          <a:endParaRPr lang="en-IN"/>
        </a:p>
      </dgm:t>
    </dgm:pt>
    <dgm:pt modelId="{CE051E5B-ADAA-4671-A860-C26710BBD0A2}" type="sibTrans" cxnId="{307EB003-BEF9-429A-BF73-B2B9B875614D}">
      <dgm:prSet/>
      <dgm:spPr/>
      <dgm:t>
        <a:bodyPr/>
        <a:lstStyle/>
        <a:p>
          <a:endParaRPr lang="en-IN"/>
        </a:p>
      </dgm:t>
    </dgm:pt>
    <dgm:pt modelId="{07DE1A74-D540-47CA-9BB4-84EE95529DE5}" type="pres">
      <dgm:prSet presAssocID="{DA7340CC-E9EF-47A6-A216-46C112EFFAB2}" presName="linear" presStyleCnt="0">
        <dgm:presLayoutVars>
          <dgm:animLvl val="lvl"/>
          <dgm:resizeHandles val="exact"/>
        </dgm:presLayoutVars>
      </dgm:prSet>
      <dgm:spPr/>
    </dgm:pt>
    <dgm:pt modelId="{5C9105AE-279C-4CB9-B934-5E7AA3CFC9A6}" type="pres">
      <dgm:prSet presAssocID="{B2DA669C-9082-4D1A-9189-BFAF231D4B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2AE9C8-4AE7-4722-9347-55542FB00644}" type="pres">
      <dgm:prSet presAssocID="{B2DA669C-9082-4D1A-9189-BFAF231D4B32}" presName="childText" presStyleLbl="revTx" presStyleIdx="0" presStyleCnt="3">
        <dgm:presLayoutVars>
          <dgm:bulletEnabled val="1"/>
        </dgm:presLayoutVars>
      </dgm:prSet>
      <dgm:spPr/>
    </dgm:pt>
    <dgm:pt modelId="{B18DB6FD-CA2C-4BAB-9D3D-C0CC7EEF7B2C}" type="pres">
      <dgm:prSet presAssocID="{545E8AFA-C2EC-4DC8-9774-D4150D83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7645FF-FD2B-4919-AF40-0790C60CDDC2}" type="pres">
      <dgm:prSet presAssocID="{545E8AFA-C2EC-4DC8-9774-D4150D831D8D}" presName="childText" presStyleLbl="revTx" presStyleIdx="1" presStyleCnt="3">
        <dgm:presLayoutVars>
          <dgm:bulletEnabled val="1"/>
        </dgm:presLayoutVars>
      </dgm:prSet>
      <dgm:spPr/>
    </dgm:pt>
    <dgm:pt modelId="{C4443FBB-3B87-4241-A620-69EA89CE1333}" type="pres">
      <dgm:prSet presAssocID="{5FC3C82E-23E0-4242-922D-6D004C92EA2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12C83B4-AB7A-44C7-8DD5-0286C7289A34}" type="pres">
      <dgm:prSet presAssocID="{5FC3C82E-23E0-4242-922D-6D004C92EA2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07EB003-BEF9-429A-BF73-B2B9B875614D}" srcId="{5FC3C82E-23E0-4242-922D-6D004C92EA2F}" destId="{FB82C231-2972-45C0-ABDF-30A5CED956D1}" srcOrd="0" destOrd="0" parTransId="{A187CF84-52FA-4D35-BDD3-A6D71BEDA632}" sibTransId="{CE051E5B-ADAA-4671-A860-C26710BBD0A2}"/>
    <dgm:cxn modelId="{C671700D-530F-4871-88F5-A63BEDDF9AB9}" type="presOf" srcId="{FB82C231-2972-45C0-ABDF-30A5CED956D1}" destId="{812C83B4-AB7A-44C7-8DD5-0286C7289A34}" srcOrd="0" destOrd="0" presId="urn:microsoft.com/office/officeart/2005/8/layout/vList2"/>
    <dgm:cxn modelId="{FFA33D12-5468-4D69-AFBB-C8F98F8721C4}" srcId="{2C20E97C-2ABE-4C1B-83AC-94A911670523}" destId="{5D9D1A38-391E-47B9-90A0-9497E3D5CE69}" srcOrd="0" destOrd="0" parTransId="{62932177-57EF-4956-99AB-429054366A46}" sibTransId="{57640370-BE3C-4720-B25F-3C591AF4D2B3}"/>
    <dgm:cxn modelId="{5BBB3F22-A883-4CCA-9BC2-AD80A282EB37}" srcId="{EB944E91-196F-4274-B614-07FF55075B25}" destId="{D5C60445-559D-4BA5-8684-B8EB3A1821BC}" srcOrd="1" destOrd="0" parTransId="{37EBF6F4-27A8-4553-933E-118E9A5FCAFD}" sibTransId="{A4CF6624-8BFC-46EB-A22B-99A3D4E5AF78}"/>
    <dgm:cxn modelId="{6FA0B025-FA46-4862-81A9-91E5ED926A8D}" srcId="{DA7340CC-E9EF-47A6-A216-46C112EFFAB2}" destId="{545E8AFA-C2EC-4DC8-9774-D4150D831D8D}" srcOrd="1" destOrd="0" parTransId="{4D09D309-C817-49C5-B07C-BF462532C764}" sibTransId="{76EE1370-66AB-4D5C-852B-CFD68A59EF2B}"/>
    <dgm:cxn modelId="{E45C982B-27E1-486A-BB9E-07B0C380E0B8}" type="presOf" srcId="{EBA1D773-8A4E-4946-A6A5-9D6B48BCF961}" destId="{A57645FF-FD2B-4919-AF40-0790C60CDDC2}" srcOrd="0" destOrd="2" presId="urn:microsoft.com/office/officeart/2005/8/layout/vList2"/>
    <dgm:cxn modelId="{038F662E-D3FB-412C-80C3-E26B2777EFCF}" srcId="{EB944E91-196F-4274-B614-07FF55075B25}" destId="{C62F338F-E43C-45CE-A01A-98DB0FE783FB}" srcOrd="0" destOrd="0" parTransId="{E8B3F3C8-F72B-4C32-9AEA-4EE7F7A58BA0}" sibTransId="{6C283980-3267-4783-A626-EEC7DE2CE4F3}"/>
    <dgm:cxn modelId="{1B62815B-2023-43FE-ABBA-B0B9E1E6711D}" type="presOf" srcId="{545E8AFA-C2EC-4DC8-9774-D4150D831D8D}" destId="{B18DB6FD-CA2C-4BAB-9D3D-C0CC7EEF7B2C}" srcOrd="0" destOrd="0" presId="urn:microsoft.com/office/officeart/2005/8/layout/vList2"/>
    <dgm:cxn modelId="{61554F61-3175-4FAF-9CC8-C0466FE336DC}" type="presOf" srcId="{F0D89975-B302-4C48-8250-F2932D9FBE77}" destId="{122AE9C8-4AE7-4722-9347-55542FB00644}" srcOrd="0" destOrd="0" presId="urn:microsoft.com/office/officeart/2005/8/layout/vList2"/>
    <dgm:cxn modelId="{59436047-336E-437F-A4C1-5974C658CD97}" type="presOf" srcId="{EB944E91-196F-4274-B614-07FF55075B25}" destId="{A57645FF-FD2B-4919-AF40-0790C60CDDC2}" srcOrd="0" destOrd="6" presId="urn:microsoft.com/office/officeart/2005/8/layout/vList2"/>
    <dgm:cxn modelId="{D0490468-6A73-45E0-802B-BB704DBDD677}" type="presOf" srcId="{5FC3C82E-23E0-4242-922D-6D004C92EA2F}" destId="{C4443FBB-3B87-4241-A620-69EA89CE1333}" srcOrd="0" destOrd="0" presId="urn:microsoft.com/office/officeart/2005/8/layout/vList2"/>
    <dgm:cxn modelId="{8D29B668-A438-4380-AE2C-12B695FC54CA}" type="presOf" srcId="{2C20E97C-2ABE-4C1B-83AC-94A911670523}" destId="{A57645FF-FD2B-4919-AF40-0790C60CDDC2}" srcOrd="0" destOrd="0" presId="urn:microsoft.com/office/officeart/2005/8/layout/vList2"/>
    <dgm:cxn modelId="{E25A7A50-55BA-425D-909F-915B7A639348}" type="presOf" srcId="{4C1EF229-6406-417D-9E8E-DA49FF9FA444}" destId="{A57645FF-FD2B-4919-AF40-0790C60CDDC2}" srcOrd="0" destOrd="4" presId="urn:microsoft.com/office/officeart/2005/8/layout/vList2"/>
    <dgm:cxn modelId="{E4987273-8A7D-4DE2-BE48-493170BE404A}" srcId="{545E8AFA-C2EC-4DC8-9774-D4150D831D8D}" destId="{EBA1D773-8A4E-4946-A6A5-9D6B48BCF961}" srcOrd="1" destOrd="0" parTransId="{62602044-097A-4747-85BC-745F855636DE}" sibTransId="{17DCD755-CED5-4F75-850D-558C5C6404D2}"/>
    <dgm:cxn modelId="{8E5C4974-1878-401D-A670-671C9B5A1D0F}" type="presOf" srcId="{5D9D1A38-391E-47B9-90A0-9497E3D5CE69}" destId="{A57645FF-FD2B-4919-AF40-0790C60CDDC2}" srcOrd="0" destOrd="1" presId="urn:microsoft.com/office/officeart/2005/8/layout/vList2"/>
    <dgm:cxn modelId="{B194B674-8C1D-4646-9701-1D842F8493EC}" srcId="{545E8AFA-C2EC-4DC8-9774-D4150D831D8D}" destId="{4C1EF229-6406-417D-9E8E-DA49FF9FA444}" srcOrd="2" destOrd="0" parTransId="{65C4D2EA-0104-4DD5-9B64-C736FD8B1BE8}" sibTransId="{16E7F607-2482-4134-903A-95228A475772}"/>
    <dgm:cxn modelId="{097FDB82-EBA5-4C5F-9BA7-07C3DA66DD91}" srcId="{DA7340CC-E9EF-47A6-A216-46C112EFFAB2}" destId="{B2DA669C-9082-4D1A-9189-BFAF231D4B32}" srcOrd="0" destOrd="0" parTransId="{EA8DC0FE-96BD-4375-ACD7-2C9285B72F30}" sibTransId="{5B600F23-9E15-485A-BE44-B3EA244F6A37}"/>
    <dgm:cxn modelId="{4E36638E-4EC1-4049-887F-8875E017C7E1}" type="presOf" srcId="{365D61CA-0AB9-4B2E-B768-FDB66A03337E}" destId="{122AE9C8-4AE7-4722-9347-55542FB00644}" srcOrd="0" destOrd="1" presId="urn:microsoft.com/office/officeart/2005/8/layout/vList2"/>
    <dgm:cxn modelId="{FEE99D8F-0AEE-4E80-9D6A-11D86BD0D21F}" type="presOf" srcId="{F218CB91-52F7-489C-8D91-BBE6967E8EF3}" destId="{A57645FF-FD2B-4919-AF40-0790C60CDDC2}" srcOrd="0" destOrd="5" presId="urn:microsoft.com/office/officeart/2005/8/layout/vList2"/>
    <dgm:cxn modelId="{6171E998-C270-4066-9218-0DE3CFF5E17F}" srcId="{EBA1D773-8A4E-4946-A6A5-9D6B48BCF961}" destId="{137FB3E7-0C59-4B83-8FE5-175B28F7FBAD}" srcOrd="0" destOrd="0" parTransId="{CF4B0BC5-D3D5-42FE-8377-1A41150CFC11}" sibTransId="{6D60F627-2B19-46BE-9562-63972BAF5C18}"/>
    <dgm:cxn modelId="{C9B05BAB-E1A4-4A08-8E99-3315B0BEBD25}" srcId="{B2DA669C-9082-4D1A-9189-BFAF231D4B32}" destId="{365D61CA-0AB9-4B2E-B768-FDB66A03337E}" srcOrd="1" destOrd="0" parTransId="{A1968656-B01E-4D59-9480-EB9FFCCC3B4C}" sibTransId="{02175F7F-CBD4-4176-B0A0-FD40C6FE23AE}"/>
    <dgm:cxn modelId="{4318ACB1-35CD-4DAD-841B-9AFFE52CF963}" srcId="{545E8AFA-C2EC-4DC8-9774-D4150D831D8D}" destId="{EB944E91-196F-4274-B614-07FF55075B25}" srcOrd="3" destOrd="0" parTransId="{982F2CDC-A6C8-41D3-B9C9-C61EB7FF37F0}" sibTransId="{DD543949-8004-4E0E-950F-D9F4CBD04D69}"/>
    <dgm:cxn modelId="{4D89B4B4-9C5D-4DDD-A451-981B1E711B13}" type="presOf" srcId="{D5C60445-559D-4BA5-8684-B8EB3A1821BC}" destId="{A57645FF-FD2B-4919-AF40-0790C60CDDC2}" srcOrd="0" destOrd="8" presId="urn:microsoft.com/office/officeart/2005/8/layout/vList2"/>
    <dgm:cxn modelId="{29591CC5-6258-41E9-806A-EF43FB1BC9AE}" srcId="{DA7340CC-E9EF-47A6-A216-46C112EFFAB2}" destId="{5FC3C82E-23E0-4242-922D-6D004C92EA2F}" srcOrd="2" destOrd="0" parTransId="{6434FEFC-0DE2-41FE-9549-8191D4C40CEC}" sibTransId="{AE3260AE-FF23-46E8-9326-2356BB7AEB82}"/>
    <dgm:cxn modelId="{A55A6DC8-D45D-4558-B433-8DAF4AC0E759}" srcId="{B2DA669C-9082-4D1A-9189-BFAF231D4B32}" destId="{678122F5-7185-4B0A-A15A-C50C14825D8A}" srcOrd="2" destOrd="0" parTransId="{28EB8820-0DBC-4714-9F60-F762362AAB7F}" sibTransId="{06E323C0-371F-47C9-9D6F-7CE253F64821}"/>
    <dgm:cxn modelId="{C0BCFEC8-D1BB-4A77-875B-7CAFD5E4171B}" type="presOf" srcId="{DA7340CC-E9EF-47A6-A216-46C112EFFAB2}" destId="{07DE1A74-D540-47CA-9BB4-84EE95529DE5}" srcOrd="0" destOrd="0" presId="urn:microsoft.com/office/officeart/2005/8/layout/vList2"/>
    <dgm:cxn modelId="{71A69CCE-DD5A-4E1D-B079-54C69A4A22F3}" srcId="{B2DA669C-9082-4D1A-9189-BFAF231D4B32}" destId="{F0D89975-B302-4C48-8250-F2932D9FBE77}" srcOrd="0" destOrd="0" parTransId="{85860071-D3D9-4FE8-8D24-E6AFA4B47137}" sibTransId="{7DDD5A05-FC27-4830-851D-C988FC974015}"/>
    <dgm:cxn modelId="{83EAC2CE-6F5C-41C1-8E05-E98045B2CFEE}" srcId="{4C1EF229-6406-417D-9E8E-DA49FF9FA444}" destId="{F218CB91-52F7-489C-8D91-BBE6967E8EF3}" srcOrd="0" destOrd="0" parTransId="{A0D82B75-3284-4969-AF32-0540268BE1C2}" sibTransId="{10B8F087-62AA-43B9-BC38-8431BD815440}"/>
    <dgm:cxn modelId="{CB24CBD5-325A-4D3D-9690-85B59765FFD6}" type="presOf" srcId="{B2DA669C-9082-4D1A-9189-BFAF231D4B32}" destId="{5C9105AE-279C-4CB9-B934-5E7AA3CFC9A6}" srcOrd="0" destOrd="0" presId="urn:microsoft.com/office/officeart/2005/8/layout/vList2"/>
    <dgm:cxn modelId="{EB5145DC-6A86-4316-854D-2F168C357345}" type="presOf" srcId="{C62F338F-E43C-45CE-A01A-98DB0FE783FB}" destId="{A57645FF-FD2B-4919-AF40-0790C60CDDC2}" srcOrd="0" destOrd="7" presId="urn:microsoft.com/office/officeart/2005/8/layout/vList2"/>
    <dgm:cxn modelId="{E43BB4E2-2456-45E7-85CD-2817D872EB1E}" type="presOf" srcId="{137FB3E7-0C59-4B83-8FE5-175B28F7FBAD}" destId="{A57645FF-FD2B-4919-AF40-0790C60CDDC2}" srcOrd="0" destOrd="3" presId="urn:microsoft.com/office/officeart/2005/8/layout/vList2"/>
    <dgm:cxn modelId="{2314DEFD-276F-4193-AF3C-ABDF939F328F}" srcId="{545E8AFA-C2EC-4DC8-9774-D4150D831D8D}" destId="{2C20E97C-2ABE-4C1B-83AC-94A911670523}" srcOrd="0" destOrd="0" parTransId="{9FFEE867-01F9-418A-88E1-2CDE19294553}" sibTransId="{465739C7-77D0-4AFC-B03C-1AF874361530}"/>
    <dgm:cxn modelId="{E1D0DEFF-E794-4A34-8488-396AF94C1B12}" type="presOf" srcId="{678122F5-7185-4B0A-A15A-C50C14825D8A}" destId="{122AE9C8-4AE7-4722-9347-55542FB00644}" srcOrd="0" destOrd="2" presId="urn:microsoft.com/office/officeart/2005/8/layout/vList2"/>
    <dgm:cxn modelId="{D1E6996A-D1CE-486A-9F64-7A4D00E2D3E2}" type="presParOf" srcId="{07DE1A74-D540-47CA-9BB4-84EE95529DE5}" destId="{5C9105AE-279C-4CB9-B934-5E7AA3CFC9A6}" srcOrd="0" destOrd="0" presId="urn:microsoft.com/office/officeart/2005/8/layout/vList2"/>
    <dgm:cxn modelId="{0C7C88E8-0E65-4591-A98B-04B60CAF51F2}" type="presParOf" srcId="{07DE1A74-D540-47CA-9BB4-84EE95529DE5}" destId="{122AE9C8-4AE7-4722-9347-55542FB00644}" srcOrd="1" destOrd="0" presId="urn:microsoft.com/office/officeart/2005/8/layout/vList2"/>
    <dgm:cxn modelId="{521DAA27-9854-4E73-8390-18DD1BF18732}" type="presParOf" srcId="{07DE1A74-D540-47CA-9BB4-84EE95529DE5}" destId="{B18DB6FD-CA2C-4BAB-9D3D-C0CC7EEF7B2C}" srcOrd="2" destOrd="0" presId="urn:microsoft.com/office/officeart/2005/8/layout/vList2"/>
    <dgm:cxn modelId="{CB428595-1BB7-4C8F-9DBF-5F29FE688AAB}" type="presParOf" srcId="{07DE1A74-D540-47CA-9BB4-84EE95529DE5}" destId="{A57645FF-FD2B-4919-AF40-0790C60CDDC2}" srcOrd="3" destOrd="0" presId="urn:microsoft.com/office/officeart/2005/8/layout/vList2"/>
    <dgm:cxn modelId="{9B3F6E9C-1D8E-40E9-88E9-460AC2F733A6}" type="presParOf" srcId="{07DE1A74-D540-47CA-9BB4-84EE95529DE5}" destId="{C4443FBB-3B87-4241-A620-69EA89CE1333}" srcOrd="4" destOrd="0" presId="urn:microsoft.com/office/officeart/2005/8/layout/vList2"/>
    <dgm:cxn modelId="{6AFCBB18-BA56-4A66-AFCD-FD9CAC9CB513}" type="presParOf" srcId="{07DE1A74-D540-47CA-9BB4-84EE95529DE5}" destId="{812C83B4-AB7A-44C7-8DD5-0286C7289A3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7340CC-E9EF-47A6-A216-46C112EFFA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2DA669C-9082-4D1A-9189-BFAF231D4B3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NIFTY 50 Overview</a:t>
          </a:r>
          <a:r>
            <a:rPr lang="en-IN" b="0" i="0"/>
            <a:t>:</a:t>
          </a:r>
          <a:endParaRPr lang="en-IN"/>
        </a:p>
      </dgm:t>
    </dgm:pt>
    <dgm:pt modelId="{EA8DC0FE-96BD-4375-ACD7-2C9285B72F30}" type="parTrans" cxnId="{097FDB82-EBA5-4C5F-9BA7-07C3DA66DD91}">
      <dgm:prSet/>
      <dgm:spPr/>
      <dgm:t>
        <a:bodyPr/>
        <a:lstStyle/>
        <a:p>
          <a:endParaRPr lang="en-IN"/>
        </a:p>
      </dgm:t>
    </dgm:pt>
    <dgm:pt modelId="{5B600F23-9E15-485A-BE44-B3EA244F6A37}" type="sibTrans" cxnId="{097FDB82-EBA5-4C5F-9BA7-07C3DA66DD91}">
      <dgm:prSet/>
      <dgm:spPr/>
      <dgm:t>
        <a:bodyPr/>
        <a:lstStyle/>
        <a:p>
          <a:endParaRPr lang="en-IN"/>
        </a:p>
      </dgm:t>
    </dgm:pt>
    <dgm:pt modelId="{F0D89975-B302-4C48-8250-F2932D9FBE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Benchmark Indian stock market index.</a:t>
          </a:r>
        </a:p>
      </dgm:t>
    </dgm:pt>
    <dgm:pt modelId="{85860071-D3D9-4FE8-8D24-E6AFA4B47137}" type="parTrans" cxnId="{71A69CCE-DD5A-4E1D-B079-54C69A4A22F3}">
      <dgm:prSet/>
      <dgm:spPr/>
      <dgm:t>
        <a:bodyPr/>
        <a:lstStyle/>
        <a:p>
          <a:endParaRPr lang="en-IN"/>
        </a:p>
      </dgm:t>
    </dgm:pt>
    <dgm:pt modelId="{7DDD5A05-FC27-4830-851D-C988FC974015}" type="sibTrans" cxnId="{71A69CCE-DD5A-4E1D-B079-54C69A4A22F3}">
      <dgm:prSet/>
      <dgm:spPr/>
      <dgm:t>
        <a:bodyPr/>
        <a:lstStyle/>
        <a:p>
          <a:endParaRPr lang="en-IN"/>
        </a:p>
      </dgm:t>
    </dgm:pt>
    <dgm:pt modelId="{365D61CA-0AB9-4B2E-B768-FDB66A033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Represents the weighted average of 50 of the largest Indian companies listed on the National Stock Exchange (NSE).</a:t>
          </a:r>
        </a:p>
      </dgm:t>
    </dgm:pt>
    <dgm:pt modelId="{A1968656-B01E-4D59-9480-EB9FFCCC3B4C}" type="parTrans" cxnId="{C9B05BAB-E1A4-4A08-8E99-3315B0BEBD25}">
      <dgm:prSet/>
      <dgm:spPr/>
      <dgm:t>
        <a:bodyPr/>
        <a:lstStyle/>
        <a:p>
          <a:endParaRPr lang="en-IN"/>
        </a:p>
      </dgm:t>
    </dgm:pt>
    <dgm:pt modelId="{02175F7F-CBD4-4176-B0A0-FD40C6FE23AE}" type="sibTrans" cxnId="{C9B05BAB-E1A4-4A08-8E99-3315B0BEBD25}">
      <dgm:prSet/>
      <dgm:spPr/>
      <dgm:t>
        <a:bodyPr/>
        <a:lstStyle/>
        <a:p>
          <a:endParaRPr lang="en-IN"/>
        </a:p>
      </dgm:t>
    </dgm:pt>
    <dgm:pt modelId="{678122F5-7185-4B0A-A15A-C50C14825D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One of the two main stock indices in India, alongside the BSE SENSEX.</a:t>
          </a:r>
        </a:p>
      </dgm:t>
    </dgm:pt>
    <dgm:pt modelId="{28EB8820-0DBC-4714-9F60-F762362AAB7F}" type="parTrans" cxnId="{A55A6DC8-D45D-4558-B433-8DAF4AC0E759}">
      <dgm:prSet/>
      <dgm:spPr/>
      <dgm:t>
        <a:bodyPr/>
        <a:lstStyle/>
        <a:p>
          <a:endParaRPr lang="en-IN"/>
        </a:p>
      </dgm:t>
    </dgm:pt>
    <dgm:pt modelId="{06E323C0-371F-47C9-9D6F-7CE253F64821}" type="sibTrans" cxnId="{A55A6DC8-D45D-4558-B433-8DAF4AC0E759}">
      <dgm:prSet/>
      <dgm:spPr/>
      <dgm:t>
        <a:bodyPr/>
        <a:lstStyle/>
        <a:p>
          <a:endParaRPr lang="en-IN"/>
        </a:p>
      </dgm:t>
    </dgm:pt>
    <dgm:pt modelId="{545E8AFA-C2EC-4DC8-9774-D4150D831D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Data Description</a:t>
          </a:r>
          <a:r>
            <a:rPr lang="en-IN" b="0" i="0"/>
            <a:t>:</a:t>
          </a:r>
        </a:p>
      </dgm:t>
    </dgm:pt>
    <dgm:pt modelId="{4D09D309-C817-49C5-B07C-BF462532C764}" type="parTrans" cxnId="{6FA0B025-FA46-4862-81A9-91E5ED926A8D}">
      <dgm:prSet/>
      <dgm:spPr/>
      <dgm:t>
        <a:bodyPr/>
        <a:lstStyle/>
        <a:p>
          <a:endParaRPr lang="en-IN"/>
        </a:p>
      </dgm:t>
    </dgm:pt>
    <dgm:pt modelId="{76EE1370-66AB-4D5C-852B-CFD68A59EF2B}" type="sibTrans" cxnId="{6FA0B025-FA46-4862-81A9-91E5ED926A8D}">
      <dgm:prSet/>
      <dgm:spPr/>
      <dgm:t>
        <a:bodyPr/>
        <a:lstStyle/>
        <a:p>
          <a:endParaRPr lang="en-IN"/>
        </a:p>
      </dgm:t>
    </dgm:pt>
    <dgm:pt modelId="{2C20E97C-2ABE-4C1B-83AC-94A9116705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Content</a:t>
          </a:r>
          <a:r>
            <a:rPr lang="en-IN" b="0" i="0"/>
            <a:t>:</a:t>
          </a:r>
        </a:p>
      </dgm:t>
    </dgm:pt>
    <dgm:pt modelId="{9FFEE867-01F9-418A-88E1-2CDE19294553}" type="parTrans" cxnId="{2314DEFD-276F-4193-AF3C-ABDF939F328F}">
      <dgm:prSet/>
      <dgm:spPr/>
      <dgm:t>
        <a:bodyPr/>
        <a:lstStyle/>
        <a:p>
          <a:endParaRPr lang="en-IN"/>
        </a:p>
      </dgm:t>
    </dgm:pt>
    <dgm:pt modelId="{465739C7-77D0-4AFC-B03C-1AF874361530}" type="sibTrans" cxnId="{2314DEFD-276F-4193-AF3C-ABDF939F328F}">
      <dgm:prSet/>
      <dgm:spPr/>
      <dgm:t>
        <a:bodyPr/>
        <a:lstStyle/>
        <a:p>
          <a:endParaRPr lang="en-IN"/>
        </a:p>
      </dgm:t>
    </dgm:pt>
    <dgm:pt modelId="{5D9D1A38-391E-47B9-90A0-9497E3D5CE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Price history and trading volumes of the fifty stocks in the NIFTY 50 index.</a:t>
          </a:r>
        </a:p>
      </dgm:t>
    </dgm:pt>
    <dgm:pt modelId="{62932177-57EF-4956-99AB-429054366A46}" type="parTrans" cxnId="{FFA33D12-5468-4D69-AFBB-C8F98F8721C4}">
      <dgm:prSet/>
      <dgm:spPr/>
      <dgm:t>
        <a:bodyPr/>
        <a:lstStyle/>
        <a:p>
          <a:endParaRPr lang="en-IN"/>
        </a:p>
      </dgm:t>
    </dgm:pt>
    <dgm:pt modelId="{57640370-BE3C-4720-B25F-3C591AF4D2B3}" type="sibTrans" cxnId="{FFA33D12-5468-4D69-AFBB-C8F98F8721C4}">
      <dgm:prSet/>
      <dgm:spPr/>
      <dgm:t>
        <a:bodyPr/>
        <a:lstStyle/>
        <a:p>
          <a:endParaRPr lang="en-IN"/>
        </a:p>
      </dgm:t>
    </dgm:pt>
    <dgm:pt modelId="{EBA1D773-8A4E-4946-A6A5-9D6B48BCF96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Source</a:t>
          </a:r>
          <a:r>
            <a:rPr lang="en-IN" b="0" i="0"/>
            <a:t>:</a:t>
          </a:r>
        </a:p>
      </dgm:t>
    </dgm:pt>
    <dgm:pt modelId="{62602044-097A-4747-85BC-745F855636DE}" type="parTrans" cxnId="{E4987273-8A7D-4DE2-BE48-493170BE404A}">
      <dgm:prSet/>
      <dgm:spPr/>
      <dgm:t>
        <a:bodyPr/>
        <a:lstStyle/>
        <a:p>
          <a:endParaRPr lang="en-IN"/>
        </a:p>
      </dgm:t>
    </dgm:pt>
    <dgm:pt modelId="{17DCD755-CED5-4F75-850D-558C5C6404D2}" type="sibTrans" cxnId="{E4987273-8A7D-4DE2-BE48-493170BE404A}">
      <dgm:prSet/>
      <dgm:spPr/>
      <dgm:t>
        <a:bodyPr/>
        <a:lstStyle/>
        <a:p>
          <a:endParaRPr lang="en-IN"/>
        </a:p>
      </dgm:t>
    </dgm:pt>
    <dgm:pt modelId="{137FB3E7-0C59-4B83-8FE5-175B28F7FB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National Stock Exchange (NSE) India.</a:t>
          </a:r>
        </a:p>
      </dgm:t>
    </dgm:pt>
    <dgm:pt modelId="{CF4B0BC5-D3D5-42FE-8377-1A41150CFC11}" type="parTrans" cxnId="{6171E998-C270-4066-9218-0DE3CFF5E17F}">
      <dgm:prSet/>
      <dgm:spPr/>
      <dgm:t>
        <a:bodyPr/>
        <a:lstStyle/>
        <a:p>
          <a:endParaRPr lang="en-IN"/>
        </a:p>
      </dgm:t>
    </dgm:pt>
    <dgm:pt modelId="{6D60F627-2B19-46BE-9562-63972BAF5C18}" type="sibTrans" cxnId="{6171E998-C270-4066-9218-0DE3CFF5E17F}">
      <dgm:prSet/>
      <dgm:spPr/>
      <dgm:t>
        <a:bodyPr/>
        <a:lstStyle/>
        <a:p>
          <a:endParaRPr lang="en-IN"/>
        </a:p>
      </dgm:t>
    </dgm:pt>
    <dgm:pt modelId="{4C1EF229-6406-417D-9E8E-DA49FF9FA44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Granularity</a:t>
          </a:r>
          <a:r>
            <a:rPr lang="en-IN" b="0" i="0"/>
            <a:t>:</a:t>
          </a:r>
        </a:p>
      </dgm:t>
    </dgm:pt>
    <dgm:pt modelId="{65C4D2EA-0104-4DD5-9B64-C736FD8B1BE8}" type="parTrans" cxnId="{B194B674-8C1D-4646-9701-1D842F8493EC}">
      <dgm:prSet/>
      <dgm:spPr/>
      <dgm:t>
        <a:bodyPr/>
        <a:lstStyle/>
        <a:p>
          <a:endParaRPr lang="en-IN"/>
        </a:p>
      </dgm:t>
    </dgm:pt>
    <dgm:pt modelId="{16E7F607-2482-4134-903A-95228A475772}" type="sibTrans" cxnId="{B194B674-8C1D-4646-9701-1D842F8493EC}">
      <dgm:prSet/>
      <dgm:spPr/>
      <dgm:t>
        <a:bodyPr/>
        <a:lstStyle/>
        <a:p>
          <a:endParaRPr lang="en-IN"/>
        </a:p>
      </dgm:t>
    </dgm:pt>
    <dgm:pt modelId="{F218CB91-52F7-489C-8D91-BBE6967E8E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/>
            <a:t>Day-level data.</a:t>
          </a:r>
        </a:p>
      </dgm:t>
    </dgm:pt>
    <dgm:pt modelId="{A0D82B75-3284-4969-AF32-0540268BE1C2}" type="parTrans" cxnId="{83EAC2CE-6F5C-41C1-8E05-E98045B2CFEE}">
      <dgm:prSet/>
      <dgm:spPr/>
      <dgm:t>
        <a:bodyPr/>
        <a:lstStyle/>
        <a:p>
          <a:endParaRPr lang="en-IN"/>
        </a:p>
      </dgm:t>
    </dgm:pt>
    <dgm:pt modelId="{10B8F087-62AA-43B9-BC38-8431BD815440}" type="sibTrans" cxnId="{83EAC2CE-6F5C-41C1-8E05-E98045B2CFEE}">
      <dgm:prSet/>
      <dgm:spPr/>
      <dgm:t>
        <a:bodyPr/>
        <a:lstStyle/>
        <a:p>
          <a:endParaRPr lang="en-IN"/>
        </a:p>
      </dgm:t>
    </dgm:pt>
    <dgm:pt modelId="{EB944E91-196F-4274-B614-07FF55075B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Format</a:t>
          </a:r>
          <a:r>
            <a:rPr lang="en-IN" b="0" i="0"/>
            <a:t>:</a:t>
          </a:r>
        </a:p>
      </dgm:t>
    </dgm:pt>
    <dgm:pt modelId="{982F2CDC-A6C8-41D3-B9C9-C61EB7FF37F0}" type="parTrans" cxnId="{4318ACB1-35CD-4DAD-841B-9AFFE52CF963}">
      <dgm:prSet/>
      <dgm:spPr/>
      <dgm:t>
        <a:bodyPr/>
        <a:lstStyle/>
        <a:p>
          <a:endParaRPr lang="en-IN"/>
        </a:p>
      </dgm:t>
    </dgm:pt>
    <dgm:pt modelId="{DD543949-8004-4E0E-950F-D9F4CBD04D69}" type="sibTrans" cxnId="{4318ACB1-35CD-4DAD-841B-9AFFE52CF963}">
      <dgm:prSet/>
      <dgm:spPr/>
      <dgm:t>
        <a:bodyPr/>
        <a:lstStyle/>
        <a:p>
          <a:endParaRPr lang="en-IN"/>
        </a:p>
      </dgm:t>
    </dgm:pt>
    <dgm:pt modelId="{C62F338F-E43C-45CE-A01A-98DB0FE783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Split across .csv files for each stock.</a:t>
          </a:r>
        </a:p>
      </dgm:t>
    </dgm:pt>
    <dgm:pt modelId="{E8B3F3C8-F72B-4C32-9AEA-4EE7F7A58BA0}" type="parTrans" cxnId="{038F662E-D3FB-412C-80C3-E26B2777EFCF}">
      <dgm:prSet/>
      <dgm:spPr/>
      <dgm:t>
        <a:bodyPr/>
        <a:lstStyle/>
        <a:p>
          <a:endParaRPr lang="en-IN"/>
        </a:p>
      </dgm:t>
    </dgm:pt>
    <dgm:pt modelId="{6C283980-3267-4783-A626-EEC7DE2CE4F3}" type="sibTrans" cxnId="{038F662E-D3FB-412C-80C3-E26B2777EFCF}">
      <dgm:prSet/>
      <dgm:spPr/>
      <dgm:t>
        <a:bodyPr/>
        <a:lstStyle/>
        <a:p>
          <a:endParaRPr lang="en-IN"/>
        </a:p>
      </dgm:t>
    </dgm:pt>
    <dgm:pt modelId="{D5C60445-559D-4BA5-8684-B8EB3A1821B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Includes a metadata file with macro-information about the stocks.</a:t>
          </a:r>
        </a:p>
      </dgm:t>
    </dgm:pt>
    <dgm:pt modelId="{37EBF6F4-27A8-4553-933E-118E9A5FCAFD}" type="parTrans" cxnId="{5BBB3F22-A883-4CCA-9BC2-AD80A282EB37}">
      <dgm:prSet/>
      <dgm:spPr/>
      <dgm:t>
        <a:bodyPr/>
        <a:lstStyle/>
        <a:p>
          <a:endParaRPr lang="en-IN"/>
        </a:p>
      </dgm:t>
    </dgm:pt>
    <dgm:pt modelId="{A4CF6624-8BFC-46EB-A22B-99A3D4E5AF78}" type="sibTrans" cxnId="{5BBB3F22-A883-4CCA-9BC2-AD80A282EB37}">
      <dgm:prSet/>
      <dgm:spPr/>
      <dgm:t>
        <a:bodyPr/>
        <a:lstStyle/>
        <a:p>
          <a:endParaRPr lang="en-IN"/>
        </a:p>
      </dgm:t>
    </dgm:pt>
    <dgm:pt modelId="{5FC3C82E-23E0-4242-922D-6D004C92EA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Time Span</a:t>
          </a:r>
          <a:r>
            <a:rPr lang="en-IN" b="0" i="0"/>
            <a:t>:</a:t>
          </a:r>
        </a:p>
      </dgm:t>
    </dgm:pt>
    <dgm:pt modelId="{6434FEFC-0DE2-41FE-9549-8191D4C40CEC}" type="parTrans" cxnId="{29591CC5-6258-41E9-806A-EF43FB1BC9AE}">
      <dgm:prSet/>
      <dgm:spPr/>
      <dgm:t>
        <a:bodyPr/>
        <a:lstStyle/>
        <a:p>
          <a:endParaRPr lang="en-IN"/>
        </a:p>
      </dgm:t>
    </dgm:pt>
    <dgm:pt modelId="{AE3260AE-FF23-46E8-9326-2356BB7AEB82}" type="sibTrans" cxnId="{29591CC5-6258-41E9-806A-EF43FB1BC9AE}">
      <dgm:prSet/>
      <dgm:spPr/>
      <dgm:t>
        <a:bodyPr/>
        <a:lstStyle/>
        <a:p>
          <a:endParaRPr lang="en-IN"/>
        </a:p>
      </dgm:t>
    </dgm:pt>
    <dgm:pt modelId="{FB82C231-2972-45C0-ABDF-30A5CED956D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From 1st January, 2000 to 30th April, 2021.</a:t>
          </a:r>
        </a:p>
      </dgm:t>
    </dgm:pt>
    <dgm:pt modelId="{A187CF84-52FA-4D35-BDD3-A6D71BEDA632}" type="parTrans" cxnId="{307EB003-BEF9-429A-BF73-B2B9B875614D}">
      <dgm:prSet/>
      <dgm:spPr/>
      <dgm:t>
        <a:bodyPr/>
        <a:lstStyle/>
        <a:p>
          <a:endParaRPr lang="en-IN"/>
        </a:p>
      </dgm:t>
    </dgm:pt>
    <dgm:pt modelId="{CE051E5B-ADAA-4671-A860-C26710BBD0A2}" type="sibTrans" cxnId="{307EB003-BEF9-429A-BF73-B2B9B875614D}">
      <dgm:prSet/>
      <dgm:spPr/>
      <dgm:t>
        <a:bodyPr/>
        <a:lstStyle/>
        <a:p>
          <a:endParaRPr lang="en-IN"/>
        </a:p>
      </dgm:t>
    </dgm:pt>
    <dgm:pt modelId="{07DE1A74-D540-47CA-9BB4-84EE95529DE5}" type="pres">
      <dgm:prSet presAssocID="{DA7340CC-E9EF-47A6-A216-46C112EFFAB2}" presName="linear" presStyleCnt="0">
        <dgm:presLayoutVars>
          <dgm:animLvl val="lvl"/>
          <dgm:resizeHandles val="exact"/>
        </dgm:presLayoutVars>
      </dgm:prSet>
      <dgm:spPr/>
    </dgm:pt>
    <dgm:pt modelId="{5C9105AE-279C-4CB9-B934-5E7AA3CFC9A6}" type="pres">
      <dgm:prSet presAssocID="{B2DA669C-9082-4D1A-9189-BFAF231D4B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2AE9C8-4AE7-4722-9347-55542FB00644}" type="pres">
      <dgm:prSet presAssocID="{B2DA669C-9082-4D1A-9189-BFAF231D4B32}" presName="childText" presStyleLbl="revTx" presStyleIdx="0" presStyleCnt="3">
        <dgm:presLayoutVars>
          <dgm:bulletEnabled val="1"/>
        </dgm:presLayoutVars>
      </dgm:prSet>
      <dgm:spPr/>
    </dgm:pt>
    <dgm:pt modelId="{B18DB6FD-CA2C-4BAB-9D3D-C0CC7EEF7B2C}" type="pres">
      <dgm:prSet presAssocID="{545E8AFA-C2EC-4DC8-9774-D4150D83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7645FF-FD2B-4919-AF40-0790C60CDDC2}" type="pres">
      <dgm:prSet presAssocID="{545E8AFA-C2EC-4DC8-9774-D4150D831D8D}" presName="childText" presStyleLbl="revTx" presStyleIdx="1" presStyleCnt="3">
        <dgm:presLayoutVars>
          <dgm:bulletEnabled val="1"/>
        </dgm:presLayoutVars>
      </dgm:prSet>
      <dgm:spPr/>
    </dgm:pt>
    <dgm:pt modelId="{C4443FBB-3B87-4241-A620-69EA89CE1333}" type="pres">
      <dgm:prSet presAssocID="{5FC3C82E-23E0-4242-922D-6D004C92EA2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12C83B4-AB7A-44C7-8DD5-0286C7289A34}" type="pres">
      <dgm:prSet presAssocID="{5FC3C82E-23E0-4242-922D-6D004C92EA2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07EB003-BEF9-429A-BF73-B2B9B875614D}" srcId="{5FC3C82E-23E0-4242-922D-6D004C92EA2F}" destId="{FB82C231-2972-45C0-ABDF-30A5CED956D1}" srcOrd="0" destOrd="0" parTransId="{A187CF84-52FA-4D35-BDD3-A6D71BEDA632}" sibTransId="{CE051E5B-ADAA-4671-A860-C26710BBD0A2}"/>
    <dgm:cxn modelId="{C671700D-530F-4871-88F5-A63BEDDF9AB9}" type="presOf" srcId="{FB82C231-2972-45C0-ABDF-30A5CED956D1}" destId="{812C83B4-AB7A-44C7-8DD5-0286C7289A34}" srcOrd="0" destOrd="0" presId="urn:microsoft.com/office/officeart/2005/8/layout/vList2"/>
    <dgm:cxn modelId="{FFA33D12-5468-4D69-AFBB-C8F98F8721C4}" srcId="{2C20E97C-2ABE-4C1B-83AC-94A911670523}" destId="{5D9D1A38-391E-47B9-90A0-9497E3D5CE69}" srcOrd="0" destOrd="0" parTransId="{62932177-57EF-4956-99AB-429054366A46}" sibTransId="{57640370-BE3C-4720-B25F-3C591AF4D2B3}"/>
    <dgm:cxn modelId="{5BBB3F22-A883-4CCA-9BC2-AD80A282EB37}" srcId="{EB944E91-196F-4274-B614-07FF55075B25}" destId="{D5C60445-559D-4BA5-8684-B8EB3A1821BC}" srcOrd="1" destOrd="0" parTransId="{37EBF6F4-27A8-4553-933E-118E9A5FCAFD}" sibTransId="{A4CF6624-8BFC-46EB-A22B-99A3D4E5AF78}"/>
    <dgm:cxn modelId="{6FA0B025-FA46-4862-81A9-91E5ED926A8D}" srcId="{DA7340CC-E9EF-47A6-A216-46C112EFFAB2}" destId="{545E8AFA-C2EC-4DC8-9774-D4150D831D8D}" srcOrd="1" destOrd="0" parTransId="{4D09D309-C817-49C5-B07C-BF462532C764}" sibTransId="{76EE1370-66AB-4D5C-852B-CFD68A59EF2B}"/>
    <dgm:cxn modelId="{E45C982B-27E1-486A-BB9E-07B0C380E0B8}" type="presOf" srcId="{EBA1D773-8A4E-4946-A6A5-9D6B48BCF961}" destId="{A57645FF-FD2B-4919-AF40-0790C60CDDC2}" srcOrd="0" destOrd="2" presId="urn:microsoft.com/office/officeart/2005/8/layout/vList2"/>
    <dgm:cxn modelId="{038F662E-D3FB-412C-80C3-E26B2777EFCF}" srcId="{EB944E91-196F-4274-B614-07FF55075B25}" destId="{C62F338F-E43C-45CE-A01A-98DB0FE783FB}" srcOrd="0" destOrd="0" parTransId="{E8B3F3C8-F72B-4C32-9AEA-4EE7F7A58BA0}" sibTransId="{6C283980-3267-4783-A626-EEC7DE2CE4F3}"/>
    <dgm:cxn modelId="{1B62815B-2023-43FE-ABBA-B0B9E1E6711D}" type="presOf" srcId="{545E8AFA-C2EC-4DC8-9774-D4150D831D8D}" destId="{B18DB6FD-CA2C-4BAB-9D3D-C0CC7EEF7B2C}" srcOrd="0" destOrd="0" presId="urn:microsoft.com/office/officeart/2005/8/layout/vList2"/>
    <dgm:cxn modelId="{61554F61-3175-4FAF-9CC8-C0466FE336DC}" type="presOf" srcId="{F0D89975-B302-4C48-8250-F2932D9FBE77}" destId="{122AE9C8-4AE7-4722-9347-55542FB00644}" srcOrd="0" destOrd="0" presId="urn:microsoft.com/office/officeart/2005/8/layout/vList2"/>
    <dgm:cxn modelId="{59436047-336E-437F-A4C1-5974C658CD97}" type="presOf" srcId="{EB944E91-196F-4274-B614-07FF55075B25}" destId="{A57645FF-FD2B-4919-AF40-0790C60CDDC2}" srcOrd="0" destOrd="6" presId="urn:microsoft.com/office/officeart/2005/8/layout/vList2"/>
    <dgm:cxn modelId="{D0490468-6A73-45E0-802B-BB704DBDD677}" type="presOf" srcId="{5FC3C82E-23E0-4242-922D-6D004C92EA2F}" destId="{C4443FBB-3B87-4241-A620-69EA89CE1333}" srcOrd="0" destOrd="0" presId="urn:microsoft.com/office/officeart/2005/8/layout/vList2"/>
    <dgm:cxn modelId="{8D29B668-A438-4380-AE2C-12B695FC54CA}" type="presOf" srcId="{2C20E97C-2ABE-4C1B-83AC-94A911670523}" destId="{A57645FF-FD2B-4919-AF40-0790C60CDDC2}" srcOrd="0" destOrd="0" presId="urn:microsoft.com/office/officeart/2005/8/layout/vList2"/>
    <dgm:cxn modelId="{E25A7A50-55BA-425D-909F-915B7A639348}" type="presOf" srcId="{4C1EF229-6406-417D-9E8E-DA49FF9FA444}" destId="{A57645FF-FD2B-4919-AF40-0790C60CDDC2}" srcOrd="0" destOrd="4" presId="urn:microsoft.com/office/officeart/2005/8/layout/vList2"/>
    <dgm:cxn modelId="{E4987273-8A7D-4DE2-BE48-493170BE404A}" srcId="{545E8AFA-C2EC-4DC8-9774-D4150D831D8D}" destId="{EBA1D773-8A4E-4946-A6A5-9D6B48BCF961}" srcOrd="1" destOrd="0" parTransId="{62602044-097A-4747-85BC-745F855636DE}" sibTransId="{17DCD755-CED5-4F75-850D-558C5C6404D2}"/>
    <dgm:cxn modelId="{8E5C4974-1878-401D-A670-671C9B5A1D0F}" type="presOf" srcId="{5D9D1A38-391E-47B9-90A0-9497E3D5CE69}" destId="{A57645FF-FD2B-4919-AF40-0790C60CDDC2}" srcOrd="0" destOrd="1" presId="urn:microsoft.com/office/officeart/2005/8/layout/vList2"/>
    <dgm:cxn modelId="{B194B674-8C1D-4646-9701-1D842F8493EC}" srcId="{545E8AFA-C2EC-4DC8-9774-D4150D831D8D}" destId="{4C1EF229-6406-417D-9E8E-DA49FF9FA444}" srcOrd="2" destOrd="0" parTransId="{65C4D2EA-0104-4DD5-9B64-C736FD8B1BE8}" sibTransId="{16E7F607-2482-4134-903A-95228A475772}"/>
    <dgm:cxn modelId="{097FDB82-EBA5-4C5F-9BA7-07C3DA66DD91}" srcId="{DA7340CC-E9EF-47A6-A216-46C112EFFAB2}" destId="{B2DA669C-9082-4D1A-9189-BFAF231D4B32}" srcOrd="0" destOrd="0" parTransId="{EA8DC0FE-96BD-4375-ACD7-2C9285B72F30}" sibTransId="{5B600F23-9E15-485A-BE44-B3EA244F6A37}"/>
    <dgm:cxn modelId="{4E36638E-4EC1-4049-887F-8875E017C7E1}" type="presOf" srcId="{365D61CA-0AB9-4B2E-B768-FDB66A03337E}" destId="{122AE9C8-4AE7-4722-9347-55542FB00644}" srcOrd="0" destOrd="1" presId="urn:microsoft.com/office/officeart/2005/8/layout/vList2"/>
    <dgm:cxn modelId="{FEE99D8F-0AEE-4E80-9D6A-11D86BD0D21F}" type="presOf" srcId="{F218CB91-52F7-489C-8D91-BBE6967E8EF3}" destId="{A57645FF-FD2B-4919-AF40-0790C60CDDC2}" srcOrd="0" destOrd="5" presId="urn:microsoft.com/office/officeart/2005/8/layout/vList2"/>
    <dgm:cxn modelId="{6171E998-C270-4066-9218-0DE3CFF5E17F}" srcId="{EBA1D773-8A4E-4946-A6A5-9D6B48BCF961}" destId="{137FB3E7-0C59-4B83-8FE5-175B28F7FBAD}" srcOrd="0" destOrd="0" parTransId="{CF4B0BC5-D3D5-42FE-8377-1A41150CFC11}" sibTransId="{6D60F627-2B19-46BE-9562-63972BAF5C18}"/>
    <dgm:cxn modelId="{C9B05BAB-E1A4-4A08-8E99-3315B0BEBD25}" srcId="{B2DA669C-9082-4D1A-9189-BFAF231D4B32}" destId="{365D61CA-0AB9-4B2E-B768-FDB66A03337E}" srcOrd="1" destOrd="0" parTransId="{A1968656-B01E-4D59-9480-EB9FFCCC3B4C}" sibTransId="{02175F7F-CBD4-4176-B0A0-FD40C6FE23AE}"/>
    <dgm:cxn modelId="{4318ACB1-35CD-4DAD-841B-9AFFE52CF963}" srcId="{545E8AFA-C2EC-4DC8-9774-D4150D831D8D}" destId="{EB944E91-196F-4274-B614-07FF55075B25}" srcOrd="3" destOrd="0" parTransId="{982F2CDC-A6C8-41D3-B9C9-C61EB7FF37F0}" sibTransId="{DD543949-8004-4E0E-950F-D9F4CBD04D69}"/>
    <dgm:cxn modelId="{4D89B4B4-9C5D-4DDD-A451-981B1E711B13}" type="presOf" srcId="{D5C60445-559D-4BA5-8684-B8EB3A1821BC}" destId="{A57645FF-FD2B-4919-AF40-0790C60CDDC2}" srcOrd="0" destOrd="8" presId="urn:microsoft.com/office/officeart/2005/8/layout/vList2"/>
    <dgm:cxn modelId="{29591CC5-6258-41E9-806A-EF43FB1BC9AE}" srcId="{DA7340CC-E9EF-47A6-A216-46C112EFFAB2}" destId="{5FC3C82E-23E0-4242-922D-6D004C92EA2F}" srcOrd="2" destOrd="0" parTransId="{6434FEFC-0DE2-41FE-9549-8191D4C40CEC}" sibTransId="{AE3260AE-FF23-46E8-9326-2356BB7AEB82}"/>
    <dgm:cxn modelId="{A55A6DC8-D45D-4558-B433-8DAF4AC0E759}" srcId="{B2DA669C-9082-4D1A-9189-BFAF231D4B32}" destId="{678122F5-7185-4B0A-A15A-C50C14825D8A}" srcOrd="2" destOrd="0" parTransId="{28EB8820-0DBC-4714-9F60-F762362AAB7F}" sibTransId="{06E323C0-371F-47C9-9D6F-7CE253F64821}"/>
    <dgm:cxn modelId="{C0BCFEC8-D1BB-4A77-875B-7CAFD5E4171B}" type="presOf" srcId="{DA7340CC-E9EF-47A6-A216-46C112EFFAB2}" destId="{07DE1A74-D540-47CA-9BB4-84EE95529DE5}" srcOrd="0" destOrd="0" presId="urn:microsoft.com/office/officeart/2005/8/layout/vList2"/>
    <dgm:cxn modelId="{71A69CCE-DD5A-4E1D-B079-54C69A4A22F3}" srcId="{B2DA669C-9082-4D1A-9189-BFAF231D4B32}" destId="{F0D89975-B302-4C48-8250-F2932D9FBE77}" srcOrd="0" destOrd="0" parTransId="{85860071-D3D9-4FE8-8D24-E6AFA4B47137}" sibTransId="{7DDD5A05-FC27-4830-851D-C988FC974015}"/>
    <dgm:cxn modelId="{83EAC2CE-6F5C-41C1-8E05-E98045B2CFEE}" srcId="{4C1EF229-6406-417D-9E8E-DA49FF9FA444}" destId="{F218CB91-52F7-489C-8D91-BBE6967E8EF3}" srcOrd="0" destOrd="0" parTransId="{A0D82B75-3284-4969-AF32-0540268BE1C2}" sibTransId="{10B8F087-62AA-43B9-BC38-8431BD815440}"/>
    <dgm:cxn modelId="{CB24CBD5-325A-4D3D-9690-85B59765FFD6}" type="presOf" srcId="{B2DA669C-9082-4D1A-9189-BFAF231D4B32}" destId="{5C9105AE-279C-4CB9-B934-5E7AA3CFC9A6}" srcOrd="0" destOrd="0" presId="urn:microsoft.com/office/officeart/2005/8/layout/vList2"/>
    <dgm:cxn modelId="{EB5145DC-6A86-4316-854D-2F168C357345}" type="presOf" srcId="{C62F338F-E43C-45CE-A01A-98DB0FE783FB}" destId="{A57645FF-FD2B-4919-AF40-0790C60CDDC2}" srcOrd="0" destOrd="7" presId="urn:microsoft.com/office/officeart/2005/8/layout/vList2"/>
    <dgm:cxn modelId="{E43BB4E2-2456-45E7-85CD-2817D872EB1E}" type="presOf" srcId="{137FB3E7-0C59-4B83-8FE5-175B28F7FBAD}" destId="{A57645FF-FD2B-4919-AF40-0790C60CDDC2}" srcOrd="0" destOrd="3" presId="urn:microsoft.com/office/officeart/2005/8/layout/vList2"/>
    <dgm:cxn modelId="{2314DEFD-276F-4193-AF3C-ABDF939F328F}" srcId="{545E8AFA-C2EC-4DC8-9774-D4150D831D8D}" destId="{2C20E97C-2ABE-4C1B-83AC-94A911670523}" srcOrd="0" destOrd="0" parTransId="{9FFEE867-01F9-418A-88E1-2CDE19294553}" sibTransId="{465739C7-77D0-4AFC-B03C-1AF874361530}"/>
    <dgm:cxn modelId="{E1D0DEFF-E794-4A34-8488-396AF94C1B12}" type="presOf" srcId="{678122F5-7185-4B0A-A15A-C50C14825D8A}" destId="{122AE9C8-4AE7-4722-9347-55542FB00644}" srcOrd="0" destOrd="2" presId="urn:microsoft.com/office/officeart/2005/8/layout/vList2"/>
    <dgm:cxn modelId="{D1E6996A-D1CE-486A-9F64-7A4D00E2D3E2}" type="presParOf" srcId="{07DE1A74-D540-47CA-9BB4-84EE95529DE5}" destId="{5C9105AE-279C-4CB9-B934-5E7AA3CFC9A6}" srcOrd="0" destOrd="0" presId="urn:microsoft.com/office/officeart/2005/8/layout/vList2"/>
    <dgm:cxn modelId="{0C7C88E8-0E65-4591-A98B-04B60CAF51F2}" type="presParOf" srcId="{07DE1A74-D540-47CA-9BB4-84EE95529DE5}" destId="{122AE9C8-4AE7-4722-9347-55542FB00644}" srcOrd="1" destOrd="0" presId="urn:microsoft.com/office/officeart/2005/8/layout/vList2"/>
    <dgm:cxn modelId="{521DAA27-9854-4E73-8390-18DD1BF18732}" type="presParOf" srcId="{07DE1A74-D540-47CA-9BB4-84EE95529DE5}" destId="{B18DB6FD-CA2C-4BAB-9D3D-C0CC7EEF7B2C}" srcOrd="2" destOrd="0" presId="urn:microsoft.com/office/officeart/2005/8/layout/vList2"/>
    <dgm:cxn modelId="{CB428595-1BB7-4C8F-9DBF-5F29FE688AAB}" type="presParOf" srcId="{07DE1A74-D540-47CA-9BB4-84EE95529DE5}" destId="{A57645FF-FD2B-4919-AF40-0790C60CDDC2}" srcOrd="3" destOrd="0" presId="urn:microsoft.com/office/officeart/2005/8/layout/vList2"/>
    <dgm:cxn modelId="{9B3F6E9C-1D8E-40E9-88E9-460AC2F733A6}" type="presParOf" srcId="{07DE1A74-D540-47CA-9BB4-84EE95529DE5}" destId="{C4443FBB-3B87-4241-A620-69EA89CE1333}" srcOrd="4" destOrd="0" presId="urn:microsoft.com/office/officeart/2005/8/layout/vList2"/>
    <dgm:cxn modelId="{6AFCBB18-BA56-4A66-AFCD-FD9CAC9CB513}" type="presParOf" srcId="{07DE1A74-D540-47CA-9BB4-84EE95529DE5}" destId="{812C83B4-AB7A-44C7-8DD5-0286C7289A3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729D53-30FC-42F8-9477-505F7C52A8B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9B7C467-782D-4C70-BBCE-F1EA20CEF0B0}">
      <dgm:prSet phldrT="[Text]"/>
      <dgm:spPr/>
      <dgm:t>
        <a:bodyPr/>
        <a:lstStyle/>
        <a:p>
          <a:r>
            <a:rPr lang="en-US" b="1" i="0">
              <a:solidFill>
                <a:srgbClr val="111111"/>
              </a:solidFill>
              <a:effectLst/>
              <a:latin typeface="-apple-system"/>
            </a:rPr>
            <a:t>Key Components:</a:t>
          </a:r>
          <a:endParaRPr lang="en-IN"/>
        </a:p>
      </dgm:t>
    </dgm:pt>
    <dgm:pt modelId="{70C05D96-B1CF-4DB1-8981-DA975A5B8623}" type="parTrans" cxnId="{00E6F655-CA78-463F-935F-3ADF7C1353C5}">
      <dgm:prSet/>
      <dgm:spPr/>
      <dgm:t>
        <a:bodyPr/>
        <a:lstStyle/>
        <a:p>
          <a:endParaRPr lang="en-IN"/>
        </a:p>
      </dgm:t>
    </dgm:pt>
    <dgm:pt modelId="{B27E67D6-FD52-4FE9-9E54-649941CA4F03}" type="sibTrans" cxnId="{00E6F655-CA78-463F-935F-3ADF7C1353C5}">
      <dgm:prSet/>
      <dgm:spPr/>
      <dgm:t>
        <a:bodyPr/>
        <a:lstStyle/>
        <a:p>
          <a:endParaRPr lang="en-IN"/>
        </a:p>
      </dgm:t>
    </dgm:pt>
    <dgm:pt modelId="{534129FF-A2C1-4B2A-85BB-555788EE1779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Trend: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Long-term movement in the data.</a:t>
          </a:r>
        </a:p>
      </dgm:t>
    </dgm:pt>
    <dgm:pt modelId="{0BA43384-68F1-4AA2-B8F9-BA469E74649A}" type="parTrans" cxnId="{48BA2F16-E581-49B3-BFDF-759A97A30296}">
      <dgm:prSet/>
      <dgm:spPr/>
      <dgm:t>
        <a:bodyPr/>
        <a:lstStyle/>
        <a:p>
          <a:endParaRPr lang="en-IN"/>
        </a:p>
      </dgm:t>
    </dgm:pt>
    <dgm:pt modelId="{DE5F8F3F-05E3-48ED-AB3B-0D3BE7CFD12F}" type="sibTrans" cxnId="{48BA2F16-E581-49B3-BFDF-759A97A30296}">
      <dgm:prSet/>
      <dgm:spPr/>
      <dgm:t>
        <a:bodyPr/>
        <a:lstStyle/>
        <a:p>
          <a:endParaRPr lang="en-IN"/>
        </a:p>
      </dgm:t>
    </dgm:pt>
    <dgm:pt modelId="{9DB37610-907A-4F24-B68A-93F4397D21DF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Seasonality: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Regular pattern repeating over a specific period.</a:t>
          </a:r>
        </a:p>
      </dgm:t>
    </dgm:pt>
    <dgm:pt modelId="{23A6D636-0415-499D-AE53-886BC9A00174}" type="parTrans" cxnId="{C1B778D7-8DB5-4778-A48C-DF446D2529F4}">
      <dgm:prSet/>
      <dgm:spPr/>
      <dgm:t>
        <a:bodyPr/>
        <a:lstStyle/>
        <a:p>
          <a:endParaRPr lang="en-IN"/>
        </a:p>
      </dgm:t>
    </dgm:pt>
    <dgm:pt modelId="{A0DDB708-1D7D-459E-AB87-2771A1DDBC9D}" type="sibTrans" cxnId="{C1B778D7-8DB5-4778-A48C-DF446D2529F4}">
      <dgm:prSet/>
      <dgm:spPr/>
      <dgm:t>
        <a:bodyPr/>
        <a:lstStyle/>
        <a:p>
          <a:endParaRPr lang="en-IN"/>
        </a:p>
      </dgm:t>
    </dgm:pt>
    <dgm:pt modelId="{3E2CDFF1-6098-4D69-8042-4863006FF354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Cyclical: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Long-term fluctuations influenced by economic or business cycles.</a:t>
          </a:r>
        </a:p>
      </dgm:t>
    </dgm:pt>
    <dgm:pt modelId="{55F77103-C86C-4CA0-B9ED-49AD7C000C9C}" type="parTrans" cxnId="{15F01585-069E-41C6-9838-14313A547ABF}">
      <dgm:prSet/>
      <dgm:spPr/>
      <dgm:t>
        <a:bodyPr/>
        <a:lstStyle/>
        <a:p>
          <a:endParaRPr lang="en-IN"/>
        </a:p>
      </dgm:t>
    </dgm:pt>
    <dgm:pt modelId="{BBB7273D-50A3-4225-9AAB-FB81C4E2F743}" type="sibTrans" cxnId="{15F01585-069E-41C6-9838-14313A547ABF}">
      <dgm:prSet/>
      <dgm:spPr/>
      <dgm:t>
        <a:bodyPr/>
        <a:lstStyle/>
        <a:p>
          <a:endParaRPr lang="en-IN"/>
        </a:p>
      </dgm:t>
    </dgm:pt>
    <dgm:pt modelId="{EDC256F5-E864-40EC-A030-7A3F63BECE0D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Applications:</a:t>
          </a:r>
          <a:endParaRPr lang="en-US" b="0" i="0" dirty="0">
            <a:solidFill>
              <a:srgbClr val="111111"/>
            </a:solidFill>
            <a:effectLst/>
            <a:latin typeface="-apple-system"/>
          </a:endParaRPr>
        </a:p>
      </dgm:t>
    </dgm:pt>
    <dgm:pt modelId="{54EB5DA1-E7C8-43D0-8665-E9146DDB7C44}" type="parTrans" cxnId="{8FFBA6C7-C91F-462A-80A7-46F12BF652A1}">
      <dgm:prSet/>
      <dgm:spPr/>
      <dgm:t>
        <a:bodyPr/>
        <a:lstStyle/>
        <a:p>
          <a:endParaRPr lang="en-IN"/>
        </a:p>
      </dgm:t>
    </dgm:pt>
    <dgm:pt modelId="{16EFE49F-B04F-4632-8138-1FCB32CDE2CF}" type="sibTrans" cxnId="{8FFBA6C7-C91F-462A-80A7-46F12BF652A1}">
      <dgm:prSet/>
      <dgm:spPr/>
      <dgm:t>
        <a:bodyPr/>
        <a:lstStyle/>
        <a:p>
          <a:endParaRPr lang="en-IN"/>
        </a:p>
      </dgm:t>
    </dgm:pt>
    <dgm:pt modelId="{1F44A496-F7B7-4FC0-8D11-D0D1AD6205F5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Finance: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Stock prices, economic indicators. </a:t>
          </a:r>
        </a:p>
      </dgm:t>
    </dgm:pt>
    <dgm:pt modelId="{5F1241D3-3FD0-44D6-9B09-E6FC4FF7D7AB}" type="parTrans" cxnId="{A18A822F-0905-4FB9-BCD1-E936CAC4EE2B}">
      <dgm:prSet/>
      <dgm:spPr/>
      <dgm:t>
        <a:bodyPr/>
        <a:lstStyle/>
        <a:p>
          <a:endParaRPr lang="en-IN"/>
        </a:p>
      </dgm:t>
    </dgm:pt>
    <dgm:pt modelId="{E445BA30-8285-407D-BD2C-825B2D49F4DD}" type="sibTrans" cxnId="{A18A822F-0905-4FB9-BCD1-E936CAC4EE2B}">
      <dgm:prSet/>
      <dgm:spPr/>
      <dgm:t>
        <a:bodyPr/>
        <a:lstStyle/>
        <a:p>
          <a:endParaRPr lang="en-IN"/>
        </a:p>
      </dgm:t>
    </dgm:pt>
    <dgm:pt modelId="{914A1A2E-8C5D-47B7-A382-E95997E43C13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Retail: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Sales forecasting, inventory management.</a:t>
          </a:r>
        </a:p>
      </dgm:t>
    </dgm:pt>
    <dgm:pt modelId="{26386600-64B5-44CE-A709-A3F7AF762899}" type="parTrans" cxnId="{5564A75B-87BC-41A3-ABCD-80D1885BC559}">
      <dgm:prSet/>
      <dgm:spPr/>
      <dgm:t>
        <a:bodyPr/>
        <a:lstStyle/>
        <a:p>
          <a:endParaRPr lang="en-IN"/>
        </a:p>
      </dgm:t>
    </dgm:pt>
    <dgm:pt modelId="{35044B44-2E17-43FA-B16A-4333B13E927D}" type="sibTrans" cxnId="{5564A75B-87BC-41A3-ABCD-80D1885BC559}">
      <dgm:prSet/>
      <dgm:spPr/>
      <dgm:t>
        <a:bodyPr/>
        <a:lstStyle/>
        <a:p>
          <a:endParaRPr lang="en-IN"/>
        </a:p>
      </dgm:t>
    </dgm:pt>
    <dgm:pt modelId="{6A0D649D-AC54-4B95-8064-72248AEC8CD1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Weather: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Temperature, precipitation patterns.</a:t>
          </a:r>
        </a:p>
      </dgm:t>
    </dgm:pt>
    <dgm:pt modelId="{CD75270D-C496-49BC-8CAF-FE1BCD33130A}" type="parTrans" cxnId="{72DB6F09-2290-4FD8-BF32-554D63510204}">
      <dgm:prSet/>
      <dgm:spPr/>
      <dgm:t>
        <a:bodyPr/>
        <a:lstStyle/>
        <a:p>
          <a:endParaRPr lang="en-IN"/>
        </a:p>
      </dgm:t>
    </dgm:pt>
    <dgm:pt modelId="{B252B021-5673-44EC-8C27-3C6F3CE8EAD0}" type="sibTrans" cxnId="{72DB6F09-2290-4FD8-BF32-554D63510204}">
      <dgm:prSet/>
      <dgm:spPr/>
      <dgm:t>
        <a:bodyPr/>
        <a:lstStyle/>
        <a:p>
          <a:endParaRPr lang="en-IN"/>
        </a:p>
      </dgm:t>
    </dgm:pt>
    <dgm:pt modelId="{B83059F0-4705-41D5-9FC1-144068C1B6D9}">
      <dgm:prSet/>
      <dgm:spPr/>
      <dgm:t>
        <a:bodyPr/>
        <a:lstStyle/>
        <a:p>
          <a:r>
            <a:rPr lang="en-US" dirty="0">
              <a:solidFill>
                <a:srgbClr val="111111"/>
              </a:solidFill>
              <a:latin typeface="-apple-system"/>
            </a:rPr>
            <a:t>Analysis</a:t>
          </a:r>
        </a:p>
      </dgm:t>
    </dgm:pt>
    <dgm:pt modelId="{68C003FF-908B-4D8F-A4FD-A844A48126AF}" type="parTrans" cxnId="{02CABF1F-B5E1-4A8E-BDDF-01B3C1DA19F4}">
      <dgm:prSet/>
      <dgm:spPr/>
      <dgm:t>
        <a:bodyPr/>
        <a:lstStyle/>
        <a:p>
          <a:endParaRPr lang="en-IN"/>
        </a:p>
      </dgm:t>
    </dgm:pt>
    <dgm:pt modelId="{5E3B74B1-8BCD-4D0B-8C07-30645CF0B127}" type="sibTrans" cxnId="{02CABF1F-B5E1-4A8E-BDDF-01B3C1DA19F4}">
      <dgm:prSet/>
      <dgm:spPr/>
      <dgm:t>
        <a:bodyPr/>
        <a:lstStyle/>
        <a:p>
          <a:endParaRPr lang="en-IN"/>
        </a:p>
      </dgm:t>
    </dgm:pt>
    <dgm:pt modelId="{0B5F0F30-74C0-42D5-95DD-4AC3E690A55F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Forecasting: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Predict future values based on past trends.</a:t>
          </a:r>
        </a:p>
      </dgm:t>
    </dgm:pt>
    <dgm:pt modelId="{5F6B3016-B3BA-4A32-ADFE-A4FF63B3B943}" type="parTrans" cxnId="{0D908158-B3DE-4908-B514-F102FD780B9D}">
      <dgm:prSet/>
      <dgm:spPr/>
      <dgm:t>
        <a:bodyPr/>
        <a:lstStyle/>
        <a:p>
          <a:endParaRPr lang="en-IN"/>
        </a:p>
      </dgm:t>
    </dgm:pt>
    <dgm:pt modelId="{03B7E4D6-0F3B-4604-BE5B-2108319C46EA}" type="sibTrans" cxnId="{0D908158-B3DE-4908-B514-F102FD780B9D}">
      <dgm:prSet/>
      <dgm:spPr/>
      <dgm:t>
        <a:bodyPr/>
        <a:lstStyle/>
        <a:p>
          <a:endParaRPr lang="en-IN"/>
        </a:p>
      </dgm:t>
    </dgm:pt>
    <dgm:pt modelId="{9ABC3C0A-6E66-4CA7-B620-498B723C1D00}">
      <dgm:prSet/>
      <dgm:spPr/>
      <dgm:t>
        <a:bodyPr/>
        <a:lstStyle/>
        <a:p>
          <a:r>
            <a:rPr lang="en-US" b="1" i="0" dirty="0">
              <a:solidFill>
                <a:srgbClr val="111111"/>
              </a:solidFill>
              <a:effectLst/>
              <a:latin typeface="-apple-system"/>
            </a:rPr>
            <a:t>Anomaly Detection:</a:t>
          </a:r>
          <a:r>
            <a:rPr lang="en-US" b="0" i="0" dirty="0">
              <a:solidFill>
                <a:srgbClr val="111111"/>
              </a:solidFill>
              <a:effectLst/>
              <a:latin typeface="-apple-system"/>
            </a:rPr>
            <a:t> Identify unusual patterns or outliers.</a:t>
          </a:r>
        </a:p>
      </dgm:t>
    </dgm:pt>
    <dgm:pt modelId="{716077FD-70FF-46FF-B411-EE3AEA2C7685}" type="parTrans" cxnId="{7735E255-CC51-4534-A545-AA4B70967027}">
      <dgm:prSet/>
      <dgm:spPr/>
      <dgm:t>
        <a:bodyPr/>
        <a:lstStyle/>
        <a:p>
          <a:endParaRPr lang="en-IN"/>
        </a:p>
      </dgm:t>
    </dgm:pt>
    <dgm:pt modelId="{2D2667CB-5FEE-4CB9-AB6C-4D7BEC0A8D13}" type="sibTrans" cxnId="{7735E255-CC51-4534-A545-AA4B70967027}">
      <dgm:prSet/>
      <dgm:spPr/>
      <dgm:t>
        <a:bodyPr/>
        <a:lstStyle/>
        <a:p>
          <a:endParaRPr lang="en-IN"/>
        </a:p>
      </dgm:t>
    </dgm:pt>
    <dgm:pt modelId="{D0A7C5D8-EC0F-4F3B-9033-97EB86FDF433}" type="pres">
      <dgm:prSet presAssocID="{6B729D53-30FC-42F8-9477-505F7C52A8B0}" presName="diagram" presStyleCnt="0">
        <dgm:presLayoutVars>
          <dgm:dir/>
          <dgm:animLvl val="lvl"/>
          <dgm:resizeHandles val="exact"/>
        </dgm:presLayoutVars>
      </dgm:prSet>
      <dgm:spPr/>
    </dgm:pt>
    <dgm:pt modelId="{BE7F28AF-54A2-4C15-8D80-7EE4B5EBB831}" type="pres">
      <dgm:prSet presAssocID="{09B7C467-782D-4C70-BBCE-F1EA20CEF0B0}" presName="compNode" presStyleCnt="0"/>
      <dgm:spPr/>
    </dgm:pt>
    <dgm:pt modelId="{15548998-EE4E-4733-A3AE-F4022AFB0C4C}" type="pres">
      <dgm:prSet presAssocID="{09B7C467-782D-4C70-BBCE-F1EA20CEF0B0}" presName="childRect" presStyleLbl="bgAcc1" presStyleIdx="0" presStyleCnt="3">
        <dgm:presLayoutVars>
          <dgm:bulletEnabled val="1"/>
        </dgm:presLayoutVars>
      </dgm:prSet>
      <dgm:spPr/>
    </dgm:pt>
    <dgm:pt modelId="{5B50C9E2-F0D6-4254-8751-F17326FDED3B}" type="pres">
      <dgm:prSet presAssocID="{09B7C467-782D-4C70-BBCE-F1EA20CEF0B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B80D745-2265-47BC-8834-AE9CAD52311A}" type="pres">
      <dgm:prSet presAssocID="{09B7C467-782D-4C70-BBCE-F1EA20CEF0B0}" presName="parentRect" presStyleLbl="alignNode1" presStyleIdx="0" presStyleCnt="3"/>
      <dgm:spPr/>
    </dgm:pt>
    <dgm:pt modelId="{29993962-D6CD-44C3-84ED-F41049779B32}" type="pres">
      <dgm:prSet presAssocID="{09B7C467-782D-4C70-BBCE-F1EA20CEF0B0}" presName="adorn" presStyleLbl="fgAccFollowNode1" presStyleIdx="0" presStyleCnt="3"/>
      <dgm:spPr/>
    </dgm:pt>
    <dgm:pt modelId="{0356CEF1-F1BC-42A6-81BF-D6D6E8307550}" type="pres">
      <dgm:prSet presAssocID="{B27E67D6-FD52-4FE9-9E54-649941CA4F03}" presName="sibTrans" presStyleLbl="sibTrans2D1" presStyleIdx="0" presStyleCnt="0"/>
      <dgm:spPr/>
    </dgm:pt>
    <dgm:pt modelId="{338B6668-6963-4086-89D3-9AE268F0F1A1}" type="pres">
      <dgm:prSet presAssocID="{EDC256F5-E864-40EC-A030-7A3F63BECE0D}" presName="compNode" presStyleCnt="0"/>
      <dgm:spPr/>
    </dgm:pt>
    <dgm:pt modelId="{DEEEECCB-18C0-4FE2-B34D-D790D17C3D2E}" type="pres">
      <dgm:prSet presAssocID="{EDC256F5-E864-40EC-A030-7A3F63BECE0D}" presName="childRect" presStyleLbl="bgAcc1" presStyleIdx="1" presStyleCnt="3">
        <dgm:presLayoutVars>
          <dgm:bulletEnabled val="1"/>
        </dgm:presLayoutVars>
      </dgm:prSet>
      <dgm:spPr/>
    </dgm:pt>
    <dgm:pt modelId="{CB04101D-10FA-410B-8E08-3928012C6E13}" type="pres">
      <dgm:prSet presAssocID="{EDC256F5-E864-40EC-A030-7A3F63BECE0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028DD63-F042-45F8-9689-AFD5D7D38707}" type="pres">
      <dgm:prSet presAssocID="{EDC256F5-E864-40EC-A030-7A3F63BECE0D}" presName="parentRect" presStyleLbl="alignNode1" presStyleIdx="1" presStyleCnt="3"/>
      <dgm:spPr/>
    </dgm:pt>
    <dgm:pt modelId="{3FE16C7A-2D18-4099-9670-FAA9273DBF25}" type="pres">
      <dgm:prSet presAssocID="{EDC256F5-E864-40EC-A030-7A3F63BECE0D}" presName="adorn" presStyleLbl="fgAccFollowNode1" presStyleIdx="1" presStyleCnt="3"/>
      <dgm:spPr/>
    </dgm:pt>
    <dgm:pt modelId="{9C702EB9-F851-4602-B719-7E7491882E9F}" type="pres">
      <dgm:prSet presAssocID="{16EFE49F-B04F-4632-8138-1FCB32CDE2CF}" presName="sibTrans" presStyleLbl="sibTrans2D1" presStyleIdx="0" presStyleCnt="0"/>
      <dgm:spPr/>
    </dgm:pt>
    <dgm:pt modelId="{AF93DCC1-EA7F-435C-8C7F-949E0A720FFF}" type="pres">
      <dgm:prSet presAssocID="{B83059F0-4705-41D5-9FC1-144068C1B6D9}" presName="compNode" presStyleCnt="0"/>
      <dgm:spPr/>
    </dgm:pt>
    <dgm:pt modelId="{E8951985-3C62-4469-94C0-F70256653AE5}" type="pres">
      <dgm:prSet presAssocID="{B83059F0-4705-41D5-9FC1-144068C1B6D9}" presName="childRect" presStyleLbl="bgAcc1" presStyleIdx="2" presStyleCnt="3">
        <dgm:presLayoutVars>
          <dgm:bulletEnabled val="1"/>
        </dgm:presLayoutVars>
      </dgm:prSet>
      <dgm:spPr/>
    </dgm:pt>
    <dgm:pt modelId="{FD7E5151-5B48-488A-8B67-3DD408283226}" type="pres">
      <dgm:prSet presAssocID="{B83059F0-4705-41D5-9FC1-144068C1B6D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1957AA5-1835-4D36-A43A-CBA8610BB2AB}" type="pres">
      <dgm:prSet presAssocID="{B83059F0-4705-41D5-9FC1-144068C1B6D9}" presName="parentRect" presStyleLbl="alignNode1" presStyleIdx="2" presStyleCnt="3"/>
      <dgm:spPr/>
    </dgm:pt>
    <dgm:pt modelId="{AD0B6BC6-220D-4133-9BCC-4292D3A7757A}" type="pres">
      <dgm:prSet presAssocID="{B83059F0-4705-41D5-9FC1-144068C1B6D9}" presName="adorn" presStyleLbl="fgAccFollowNode1" presStyleIdx="2" presStyleCnt="3"/>
      <dgm:spPr/>
    </dgm:pt>
  </dgm:ptLst>
  <dgm:cxnLst>
    <dgm:cxn modelId="{72DB6F09-2290-4FD8-BF32-554D63510204}" srcId="{EDC256F5-E864-40EC-A030-7A3F63BECE0D}" destId="{6A0D649D-AC54-4B95-8064-72248AEC8CD1}" srcOrd="2" destOrd="0" parTransId="{CD75270D-C496-49BC-8CAF-FE1BCD33130A}" sibTransId="{B252B021-5673-44EC-8C27-3C6F3CE8EAD0}"/>
    <dgm:cxn modelId="{FC5F9A0F-B55B-4CB4-951D-6546006A50DE}" type="presOf" srcId="{09B7C467-782D-4C70-BBCE-F1EA20CEF0B0}" destId="{6B80D745-2265-47BC-8834-AE9CAD52311A}" srcOrd="1" destOrd="0" presId="urn:microsoft.com/office/officeart/2005/8/layout/bList2"/>
    <dgm:cxn modelId="{48BA2F16-E581-49B3-BFDF-759A97A30296}" srcId="{09B7C467-782D-4C70-BBCE-F1EA20CEF0B0}" destId="{534129FF-A2C1-4B2A-85BB-555788EE1779}" srcOrd="0" destOrd="0" parTransId="{0BA43384-68F1-4AA2-B8F9-BA469E74649A}" sibTransId="{DE5F8F3F-05E3-48ED-AB3B-0D3BE7CFD12F}"/>
    <dgm:cxn modelId="{02CABF1F-B5E1-4A8E-BDDF-01B3C1DA19F4}" srcId="{6B729D53-30FC-42F8-9477-505F7C52A8B0}" destId="{B83059F0-4705-41D5-9FC1-144068C1B6D9}" srcOrd="2" destOrd="0" parTransId="{68C003FF-908B-4D8F-A4FD-A844A48126AF}" sibTransId="{5E3B74B1-8BCD-4D0B-8C07-30645CF0B127}"/>
    <dgm:cxn modelId="{05E92D2F-FC24-4F11-9FD0-20850062C31C}" type="presOf" srcId="{1F44A496-F7B7-4FC0-8D11-D0D1AD6205F5}" destId="{DEEEECCB-18C0-4FE2-B34D-D790D17C3D2E}" srcOrd="0" destOrd="0" presId="urn:microsoft.com/office/officeart/2005/8/layout/bList2"/>
    <dgm:cxn modelId="{A18A822F-0905-4FB9-BCD1-E936CAC4EE2B}" srcId="{EDC256F5-E864-40EC-A030-7A3F63BECE0D}" destId="{1F44A496-F7B7-4FC0-8D11-D0D1AD6205F5}" srcOrd="0" destOrd="0" parTransId="{5F1241D3-3FD0-44D6-9B09-E6FC4FF7D7AB}" sibTransId="{E445BA30-8285-407D-BD2C-825B2D49F4DD}"/>
    <dgm:cxn modelId="{5564A75B-87BC-41A3-ABCD-80D1885BC559}" srcId="{EDC256F5-E864-40EC-A030-7A3F63BECE0D}" destId="{914A1A2E-8C5D-47B7-A382-E95997E43C13}" srcOrd="1" destOrd="0" parTransId="{26386600-64B5-44CE-A709-A3F7AF762899}" sibTransId="{35044B44-2E17-43FA-B16A-4333B13E927D}"/>
    <dgm:cxn modelId="{EAE8545D-15B4-4FFF-98BB-227B224E4EE0}" type="presOf" srcId="{EDC256F5-E864-40EC-A030-7A3F63BECE0D}" destId="{4028DD63-F042-45F8-9689-AFD5D7D38707}" srcOrd="1" destOrd="0" presId="urn:microsoft.com/office/officeart/2005/8/layout/bList2"/>
    <dgm:cxn modelId="{0DB25148-876C-4207-B47B-EA5FE742EE03}" type="presOf" srcId="{B27E67D6-FD52-4FE9-9E54-649941CA4F03}" destId="{0356CEF1-F1BC-42A6-81BF-D6D6E8307550}" srcOrd="0" destOrd="0" presId="urn:microsoft.com/office/officeart/2005/8/layout/bList2"/>
    <dgm:cxn modelId="{F557894F-881B-43C6-9B18-F94B87F22563}" type="presOf" srcId="{534129FF-A2C1-4B2A-85BB-555788EE1779}" destId="{15548998-EE4E-4733-A3AE-F4022AFB0C4C}" srcOrd="0" destOrd="0" presId="urn:microsoft.com/office/officeart/2005/8/layout/bList2"/>
    <dgm:cxn modelId="{7735E255-CC51-4534-A545-AA4B70967027}" srcId="{B83059F0-4705-41D5-9FC1-144068C1B6D9}" destId="{9ABC3C0A-6E66-4CA7-B620-498B723C1D00}" srcOrd="1" destOrd="0" parTransId="{716077FD-70FF-46FF-B411-EE3AEA2C7685}" sibTransId="{2D2667CB-5FEE-4CB9-AB6C-4D7BEC0A8D13}"/>
    <dgm:cxn modelId="{00E6F655-CA78-463F-935F-3ADF7C1353C5}" srcId="{6B729D53-30FC-42F8-9477-505F7C52A8B0}" destId="{09B7C467-782D-4C70-BBCE-F1EA20CEF0B0}" srcOrd="0" destOrd="0" parTransId="{70C05D96-B1CF-4DB1-8981-DA975A5B8623}" sibTransId="{B27E67D6-FD52-4FE9-9E54-649941CA4F03}"/>
    <dgm:cxn modelId="{0D908158-B3DE-4908-B514-F102FD780B9D}" srcId="{B83059F0-4705-41D5-9FC1-144068C1B6D9}" destId="{0B5F0F30-74C0-42D5-95DD-4AC3E690A55F}" srcOrd="0" destOrd="0" parTransId="{5F6B3016-B3BA-4A32-ADFE-A4FF63B3B943}" sibTransId="{03B7E4D6-0F3B-4604-BE5B-2108319C46EA}"/>
    <dgm:cxn modelId="{7B62DB58-0CC6-459E-A85E-C1D08630F59B}" type="presOf" srcId="{EDC256F5-E864-40EC-A030-7A3F63BECE0D}" destId="{CB04101D-10FA-410B-8E08-3928012C6E13}" srcOrd="0" destOrd="0" presId="urn:microsoft.com/office/officeart/2005/8/layout/bList2"/>
    <dgm:cxn modelId="{AE098580-FF07-43CA-90B7-53031C444B01}" type="presOf" srcId="{B83059F0-4705-41D5-9FC1-144068C1B6D9}" destId="{E1957AA5-1835-4D36-A43A-CBA8610BB2AB}" srcOrd="1" destOrd="0" presId="urn:microsoft.com/office/officeart/2005/8/layout/bList2"/>
    <dgm:cxn modelId="{15F01585-069E-41C6-9838-14313A547ABF}" srcId="{09B7C467-782D-4C70-BBCE-F1EA20CEF0B0}" destId="{3E2CDFF1-6098-4D69-8042-4863006FF354}" srcOrd="2" destOrd="0" parTransId="{55F77103-C86C-4CA0-B9ED-49AD7C000C9C}" sibTransId="{BBB7273D-50A3-4225-9AAB-FB81C4E2F743}"/>
    <dgm:cxn modelId="{E5000686-06E2-4D7F-A6F8-059DDF8CC7FA}" type="presOf" srcId="{09B7C467-782D-4C70-BBCE-F1EA20CEF0B0}" destId="{5B50C9E2-F0D6-4254-8751-F17326FDED3B}" srcOrd="0" destOrd="0" presId="urn:microsoft.com/office/officeart/2005/8/layout/bList2"/>
    <dgm:cxn modelId="{7F69E49F-3625-49EC-85E7-62D0BF0E649A}" type="presOf" srcId="{B83059F0-4705-41D5-9FC1-144068C1B6D9}" destId="{FD7E5151-5B48-488A-8B67-3DD408283226}" srcOrd="0" destOrd="0" presId="urn:microsoft.com/office/officeart/2005/8/layout/bList2"/>
    <dgm:cxn modelId="{CA213EA3-D7C9-4700-9CCE-86045CBA150E}" type="presOf" srcId="{9ABC3C0A-6E66-4CA7-B620-498B723C1D00}" destId="{E8951985-3C62-4469-94C0-F70256653AE5}" srcOrd="0" destOrd="1" presId="urn:microsoft.com/office/officeart/2005/8/layout/bList2"/>
    <dgm:cxn modelId="{31A349A6-CED5-4DCD-B5F1-9A1BBA781DE2}" type="presOf" srcId="{0B5F0F30-74C0-42D5-95DD-4AC3E690A55F}" destId="{E8951985-3C62-4469-94C0-F70256653AE5}" srcOrd="0" destOrd="0" presId="urn:microsoft.com/office/officeart/2005/8/layout/bList2"/>
    <dgm:cxn modelId="{530134AE-1047-4309-85F4-667E7483C4E9}" type="presOf" srcId="{16EFE49F-B04F-4632-8138-1FCB32CDE2CF}" destId="{9C702EB9-F851-4602-B719-7E7491882E9F}" srcOrd="0" destOrd="0" presId="urn:microsoft.com/office/officeart/2005/8/layout/bList2"/>
    <dgm:cxn modelId="{488FFBB0-56F2-4E23-ADB9-425FEB46FDC4}" type="presOf" srcId="{3E2CDFF1-6098-4D69-8042-4863006FF354}" destId="{15548998-EE4E-4733-A3AE-F4022AFB0C4C}" srcOrd="0" destOrd="2" presId="urn:microsoft.com/office/officeart/2005/8/layout/bList2"/>
    <dgm:cxn modelId="{C63704BA-CD6A-4A82-AC04-97F656D3EB1A}" type="presOf" srcId="{6B729D53-30FC-42F8-9477-505F7C52A8B0}" destId="{D0A7C5D8-EC0F-4F3B-9033-97EB86FDF433}" srcOrd="0" destOrd="0" presId="urn:microsoft.com/office/officeart/2005/8/layout/bList2"/>
    <dgm:cxn modelId="{17B428BE-CF65-4BA0-B6D0-20D6511F7FA0}" type="presOf" srcId="{9DB37610-907A-4F24-B68A-93F4397D21DF}" destId="{15548998-EE4E-4733-A3AE-F4022AFB0C4C}" srcOrd="0" destOrd="1" presId="urn:microsoft.com/office/officeart/2005/8/layout/bList2"/>
    <dgm:cxn modelId="{8FFBA6C7-C91F-462A-80A7-46F12BF652A1}" srcId="{6B729D53-30FC-42F8-9477-505F7C52A8B0}" destId="{EDC256F5-E864-40EC-A030-7A3F63BECE0D}" srcOrd="1" destOrd="0" parTransId="{54EB5DA1-E7C8-43D0-8665-E9146DDB7C44}" sibTransId="{16EFE49F-B04F-4632-8138-1FCB32CDE2CF}"/>
    <dgm:cxn modelId="{C1B778D7-8DB5-4778-A48C-DF446D2529F4}" srcId="{09B7C467-782D-4C70-BBCE-F1EA20CEF0B0}" destId="{9DB37610-907A-4F24-B68A-93F4397D21DF}" srcOrd="1" destOrd="0" parTransId="{23A6D636-0415-499D-AE53-886BC9A00174}" sibTransId="{A0DDB708-1D7D-459E-AB87-2771A1DDBC9D}"/>
    <dgm:cxn modelId="{DB7359FC-9221-4870-A42F-E84571863E2A}" type="presOf" srcId="{914A1A2E-8C5D-47B7-A382-E95997E43C13}" destId="{DEEEECCB-18C0-4FE2-B34D-D790D17C3D2E}" srcOrd="0" destOrd="1" presId="urn:microsoft.com/office/officeart/2005/8/layout/bList2"/>
    <dgm:cxn modelId="{FC9DC9FE-0F10-4E3A-A5A8-CBB3BC4ED227}" type="presOf" srcId="{6A0D649D-AC54-4B95-8064-72248AEC8CD1}" destId="{DEEEECCB-18C0-4FE2-B34D-D790D17C3D2E}" srcOrd="0" destOrd="2" presId="urn:microsoft.com/office/officeart/2005/8/layout/bList2"/>
    <dgm:cxn modelId="{31A4FAE2-9D21-450B-9C65-187674221C3A}" type="presParOf" srcId="{D0A7C5D8-EC0F-4F3B-9033-97EB86FDF433}" destId="{BE7F28AF-54A2-4C15-8D80-7EE4B5EBB831}" srcOrd="0" destOrd="0" presId="urn:microsoft.com/office/officeart/2005/8/layout/bList2"/>
    <dgm:cxn modelId="{5A4F73EA-CE02-42AD-AD8E-75EDEFE70341}" type="presParOf" srcId="{BE7F28AF-54A2-4C15-8D80-7EE4B5EBB831}" destId="{15548998-EE4E-4733-A3AE-F4022AFB0C4C}" srcOrd="0" destOrd="0" presId="urn:microsoft.com/office/officeart/2005/8/layout/bList2"/>
    <dgm:cxn modelId="{66173512-2894-4EAA-A039-AD0C8C740C77}" type="presParOf" srcId="{BE7F28AF-54A2-4C15-8D80-7EE4B5EBB831}" destId="{5B50C9E2-F0D6-4254-8751-F17326FDED3B}" srcOrd="1" destOrd="0" presId="urn:microsoft.com/office/officeart/2005/8/layout/bList2"/>
    <dgm:cxn modelId="{381B7E4A-45D9-4B88-9A18-4F677E0F9486}" type="presParOf" srcId="{BE7F28AF-54A2-4C15-8D80-7EE4B5EBB831}" destId="{6B80D745-2265-47BC-8834-AE9CAD52311A}" srcOrd="2" destOrd="0" presId="urn:microsoft.com/office/officeart/2005/8/layout/bList2"/>
    <dgm:cxn modelId="{912BC3DD-0351-4AD7-9044-26572F757E5A}" type="presParOf" srcId="{BE7F28AF-54A2-4C15-8D80-7EE4B5EBB831}" destId="{29993962-D6CD-44C3-84ED-F41049779B32}" srcOrd="3" destOrd="0" presId="urn:microsoft.com/office/officeart/2005/8/layout/bList2"/>
    <dgm:cxn modelId="{612FFBB4-FDED-4298-8858-1FCC2AA2FD34}" type="presParOf" srcId="{D0A7C5D8-EC0F-4F3B-9033-97EB86FDF433}" destId="{0356CEF1-F1BC-42A6-81BF-D6D6E8307550}" srcOrd="1" destOrd="0" presId="urn:microsoft.com/office/officeart/2005/8/layout/bList2"/>
    <dgm:cxn modelId="{D84ED893-0B0C-4C8A-98CB-21F913AB9C1F}" type="presParOf" srcId="{D0A7C5D8-EC0F-4F3B-9033-97EB86FDF433}" destId="{338B6668-6963-4086-89D3-9AE268F0F1A1}" srcOrd="2" destOrd="0" presId="urn:microsoft.com/office/officeart/2005/8/layout/bList2"/>
    <dgm:cxn modelId="{94A983A8-F4CC-4983-915B-DF50770CFC8F}" type="presParOf" srcId="{338B6668-6963-4086-89D3-9AE268F0F1A1}" destId="{DEEEECCB-18C0-4FE2-B34D-D790D17C3D2E}" srcOrd="0" destOrd="0" presId="urn:microsoft.com/office/officeart/2005/8/layout/bList2"/>
    <dgm:cxn modelId="{705141C1-ADC2-4985-8190-B3E036AC63C8}" type="presParOf" srcId="{338B6668-6963-4086-89D3-9AE268F0F1A1}" destId="{CB04101D-10FA-410B-8E08-3928012C6E13}" srcOrd="1" destOrd="0" presId="urn:microsoft.com/office/officeart/2005/8/layout/bList2"/>
    <dgm:cxn modelId="{1A015700-49FC-4ECE-9C66-5CCF766F64BD}" type="presParOf" srcId="{338B6668-6963-4086-89D3-9AE268F0F1A1}" destId="{4028DD63-F042-45F8-9689-AFD5D7D38707}" srcOrd="2" destOrd="0" presId="urn:microsoft.com/office/officeart/2005/8/layout/bList2"/>
    <dgm:cxn modelId="{F15668BA-6BD9-4A64-9813-709E5A67448D}" type="presParOf" srcId="{338B6668-6963-4086-89D3-9AE268F0F1A1}" destId="{3FE16C7A-2D18-4099-9670-FAA9273DBF25}" srcOrd="3" destOrd="0" presId="urn:microsoft.com/office/officeart/2005/8/layout/bList2"/>
    <dgm:cxn modelId="{8861671D-FFAA-4F51-906D-A82ADAE89D33}" type="presParOf" srcId="{D0A7C5D8-EC0F-4F3B-9033-97EB86FDF433}" destId="{9C702EB9-F851-4602-B719-7E7491882E9F}" srcOrd="3" destOrd="0" presId="urn:microsoft.com/office/officeart/2005/8/layout/bList2"/>
    <dgm:cxn modelId="{01D6637F-0ABF-4EB3-B4DD-FAB47CDC9711}" type="presParOf" srcId="{D0A7C5D8-EC0F-4F3B-9033-97EB86FDF433}" destId="{AF93DCC1-EA7F-435C-8C7F-949E0A720FFF}" srcOrd="4" destOrd="0" presId="urn:microsoft.com/office/officeart/2005/8/layout/bList2"/>
    <dgm:cxn modelId="{7C94F6F4-61A5-4A16-9B5E-6D7E4B67632C}" type="presParOf" srcId="{AF93DCC1-EA7F-435C-8C7F-949E0A720FFF}" destId="{E8951985-3C62-4469-94C0-F70256653AE5}" srcOrd="0" destOrd="0" presId="urn:microsoft.com/office/officeart/2005/8/layout/bList2"/>
    <dgm:cxn modelId="{C30E3B0C-01DE-455A-AD76-B9456A1643A4}" type="presParOf" srcId="{AF93DCC1-EA7F-435C-8C7F-949E0A720FFF}" destId="{FD7E5151-5B48-488A-8B67-3DD408283226}" srcOrd="1" destOrd="0" presId="urn:microsoft.com/office/officeart/2005/8/layout/bList2"/>
    <dgm:cxn modelId="{034EABB6-E012-4675-B97E-9032987F2F6E}" type="presParOf" srcId="{AF93DCC1-EA7F-435C-8C7F-949E0A720FFF}" destId="{E1957AA5-1835-4D36-A43A-CBA8610BB2AB}" srcOrd="2" destOrd="0" presId="urn:microsoft.com/office/officeart/2005/8/layout/bList2"/>
    <dgm:cxn modelId="{844787C8-852A-4F80-B7C4-BA2C29F1849A}" type="presParOf" srcId="{AF93DCC1-EA7F-435C-8C7F-949E0A720FFF}" destId="{AD0B6BC6-220D-4133-9BCC-4292D3A7757A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105AE-279C-4CB9-B934-5E7AA3CFC9A6}">
      <dsp:nvSpPr>
        <dsp:cNvPr id="0" name=""/>
        <dsp:cNvSpPr/>
      </dsp:nvSpPr>
      <dsp:spPr>
        <a:xfrm>
          <a:off x="0" y="127710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NIFTY 50 Overview</a:t>
          </a:r>
          <a:r>
            <a:rPr lang="en-IN" sz="1700" b="0" i="0" kern="1200"/>
            <a:t>:</a:t>
          </a:r>
          <a:endParaRPr lang="en-IN" sz="1700" kern="1200"/>
        </a:p>
      </dsp:txBody>
      <dsp:txXfrm>
        <a:off x="19904" y="147614"/>
        <a:ext cx="10090862" cy="367937"/>
      </dsp:txXfrm>
    </dsp:sp>
    <dsp:sp modelId="{122AE9C8-4AE7-4722-9347-55542FB00644}">
      <dsp:nvSpPr>
        <dsp:cNvPr id="0" name=""/>
        <dsp:cNvSpPr/>
      </dsp:nvSpPr>
      <dsp:spPr>
        <a:xfrm>
          <a:off x="0" y="535455"/>
          <a:ext cx="1013067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Benchmark Indian stock market index.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Represents the weighted average of 50 of the largest Indian companies listed on the National Stock Exchange (NSE).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One of the two main stock indices in India, alongside the BSE SENSEX.</a:t>
          </a:r>
        </a:p>
      </dsp:txBody>
      <dsp:txXfrm>
        <a:off x="0" y="535455"/>
        <a:ext cx="10130670" cy="668609"/>
      </dsp:txXfrm>
    </dsp:sp>
    <dsp:sp modelId="{B18DB6FD-CA2C-4BAB-9D3D-C0CC7EEF7B2C}">
      <dsp:nvSpPr>
        <dsp:cNvPr id="0" name=""/>
        <dsp:cNvSpPr/>
      </dsp:nvSpPr>
      <dsp:spPr>
        <a:xfrm>
          <a:off x="0" y="1204065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Data Description</a:t>
          </a:r>
          <a:r>
            <a:rPr lang="en-IN" sz="1700" b="0" i="0" kern="1200"/>
            <a:t>:</a:t>
          </a:r>
        </a:p>
      </dsp:txBody>
      <dsp:txXfrm>
        <a:off x="19904" y="1223969"/>
        <a:ext cx="10090862" cy="367937"/>
      </dsp:txXfrm>
    </dsp:sp>
    <dsp:sp modelId="{A57645FF-FD2B-4919-AF40-0790C60CDDC2}">
      <dsp:nvSpPr>
        <dsp:cNvPr id="0" name=""/>
        <dsp:cNvSpPr/>
      </dsp:nvSpPr>
      <dsp:spPr>
        <a:xfrm>
          <a:off x="0" y="1611810"/>
          <a:ext cx="10130670" cy="2005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Content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Price history and trading volumes of the fifty stocks in the NIFTY 50 index.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Source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National Stock Exchange (NSE) India.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Granularity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0" i="0" kern="1200"/>
            <a:t>Day-level data.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Format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Split across .csv files for each stock.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Includes a metadata file with macro-information about the stocks.</a:t>
          </a:r>
        </a:p>
      </dsp:txBody>
      <dsp:txXfrm>
        <a:off x="0" y="1611810"/>
        <a:ext cx="10130670" cy="2005830"/>
      </dsp:txXfrm>
    </dsp:sp>
    <dsp:sp modelId="{C4443FBB-3B87-4241-A620-69EA89CE1333}">
      <dsp:nvSpPr>
        <dsp:cNvPr id="0" name=""/>
        <dsp:cNvSpPr/>
      </dsp:nvSpPr>
      <dsp:spPr>
        <a:xfrm>
          <a:off x="0" y="3617640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Time Span</a:t>
          </a:r>
          <a:r>
            <a:rPr lang="en-IN" sz="1700" b="0" i="0" kern="1200"/>
            <a:t>:</a:t>
          </a:r>
        </a:p>
      </dsp:txBody>
      <dsp:txXfrm>
        <a:off x="19904" y="3637544"/>
        <a:ext cx="10090862" cy="367937"/>
      </dsp:txXfrm>
    </dsp:sp>
    <dsp:sp modelId="{812C83B4-AB7A-44C7-8DD5-0286C7289A34}">
      <dsp:nvSpPr>
        <dsp:cNvPr id="0" name=""/>
        <dsp:cNvSpPr/>
      </dsp:nvSpPr>
      <dsp:spPr>
        <a:xfrm>
          <a:off x="0" y="4025385"/>
          <a:ext cx="1013067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From 1st January, 2000 to 30th April, 2021.</a:t>
          </a:r>
        </a:p>
      </dsp:txBody>
      <dsp:txXfrm>
        <a:off x="0" y="4025385"/>
        <a:ext cx="10130670" cy="281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105AE-279C-4CB9-B934-5E7AA3CFC9A6}">
      <dsp:nvSpPr>
        <dsp:cNvPr id="0" name=""/>
        <dsp:cNvSpPr/>
      </dsp:nvSpPr>
      <dsp:spPr>
        <a:xfrm>
          <a:off x="0" y="127710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NIFTY 50 Overview</a:t>
          </a:r>
          <a:r>
            <a:rPr lang="en-IN" sz="1700" b="0" i="0" kern="1200"/>
            <a:t>:</a:t>
          </a:r>
          <a:endParaRPr lang="en-IN" sz="1700" kern="1200"/>
        </a:p>
      </dsp:txBody>
      <dsp:txXfrm>
        <a:off x="19904" y="147614"/>
        <a:ext cx="10090862" cy="367937"/>
      </dsp:txXfrm>
    </dsp:sp>
    <dsp:sp modelId="{122AE9C8-4AE7-4722-9347-55542FB00644}">
      <dsp:nvSpPr>
        <dsp:cNvPr id="0" name=""/>
        <dsp:cNvSpPr/>
      </dsp:nvSpPr>
      <dsp:spPr>
        <a:xfrm>
          <a:off x="0" y="535455"/>
          <a:ext cx="1013067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Benchmark Indian stock market index.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 dirty="0"/>
            <a:t>Represents the weighted average of 50 of the largest Indian companies listed on the National Stock Exchange (NSE).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One of the two main stock indices in India, alongside the BSE SENSEX.</a:t>
          </a:r>
        </a:p>
      </dsp:txBody>
      <dsp:txXfrm>
        <a:off x="0" y="535455"/>
        <a:ext cx="10130670" cy="668609"/>
      </dsp:txXfrm>
    </dsp:sp>
    <dsp:sp modelId="{B18DB6FD-CA2C-4BAB-9D3D-C0CC7EEF7B2C}">
      <dsp:nvSpPr>
        <dsp:cNvPr id="0" name=""/>
        <dsp:cNvSpPr/>
      </dsp:nvSpPr>
      <dsp:spPr>
        <a:xfrm>
          <a:off x="0" y="1204065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Data Description</a:t>
          </a:r>
          <a:r>
            <a:rPr lang="en-IN" sz="1700" b="0" i="0" kern="1200"/>
            <a:t>:</a:t>
          </a:r>
        </a:p>
      </dsp:txBody>
      <dsp:txXfrm>
        <a:off x="19904" y="1223969"/>
        <a:ext cx="10090862" cy="367937"/>
      </dsp:txXfrm>
    </dsp:sp>
    <dsp:sp modelId="{A57645FF-FD2B-4919-AF40-0790C60CDDC2}">
      <dsp:nvSpPr>
        <dsp:cNvPr id="0" name=""/>
        <dsp:cNvSpPr/>
      </dsp:nvSpPr>
      <dsp:spPr>
        <a:xfrm>
          <a:off x="0" y="1611810"/>
          <a:ext cx="10130670" cy="2005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Content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Price history and trading volumes of the fifty stocks in the NIFTY 50 index.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Source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National Stock Exchange (NSE) India.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Granularity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0" i="0" kern="1200"/>
            <a:t>Day-level data.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300" b="1" i="0" kern="1200"/>
            <a:t>Format</a:t>
          </a:r>
          <a:r>
            <a:rPr lang="en-IN" sz="1300" b="0" i="0" kern="1200"/>
            <a:t>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Split across .csv files for each stock.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Includes a metadata file with macro-information about the stocks.</a:t>
          </a:r>
        </a:p>
      </dsp:txBody>
      <dsp:txXfrm>
        <a:off x="0" y="1611810"/>
        <a:ext cx="10130670" cy="2005830"/>
      </dsp:txXfrm>
    </dsp:sp>
    <dsp:sp modelId="{C4443FBB-3B87-4241-A620-69EA89CE1333}">
      <dsp:nvSpPr>
        <dsp:cNvPr id="0" name=""/>
        <dsp:cNvSpPr/>
      </dsp:nvSpPr>
      <dsp:spPr>
        <a:xfrm>
          <a:off x="0" y="3617640"/>
          <a:ext cx="1013067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700" b="1" i="0" kern="1200"/>
            <a:t>Time Span</a:t>
          </a:r>
          <a:r>
            <a:rPr lang="en-IN" sz="1700" b="0" i="0" kern="1200"/>
            <a:t>:</a:t>
          </a:r>
        </a:p>
      </dsp:txBody>
      <dsp:txXfrm>
        <a:off x="19904" y="3637544"/>
        <a:ext cx="10090862" cy="367937"/>
      </dsp:txXfrm>
    </dsp:sp>
    <dsp:sp modelId="{812C83B4-AB7A-44C7-8DD5-0286C7289A34}">
      <dsp:nvSpPr>
        <dsp:cNvPr id="0" name=""/>
        <dsp:cNvSpPr/>
      </dsp:nvSpPr>
      <dsp:spPr>
        <a:xfrm>
          <a:off x="0" y="4025385"/>
          <a:ext cx="1013067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164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b="0" i="0" kern="1200"/>
            <a:t>From 1st January, 2000 to 30th April, 2021.</a:t>
          </a:r>
        </a:p>
      </dsp:txBody>
      <dsp:txXfrm>
        <a:off x="0" y="4025385"/>
        <a:ext cx="10130670" cy="281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48998-EE4E-4733-A3AE-F4022AFB0C4C}">
      <dsp:nvSpPr>
        <dsp:cNvPr id="0" name=""/>
        <dsp:cNvSpPr/>
      </dsp:nvSpPr>
      <dsp:spPr>
        <a:xfrm>
          <a:off x="7287" y="903541"/>
          <a:ext cx="3147446" cy="234950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68580" rIns="22860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Trend: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Long-term movement in the data.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Seasonality: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Regular pattern repeating over a specific period.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Cyclical: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Long-term fluctuations influenced by economic or business cycles.</a:t>
          </a:r>
        </a:p>
      </dsp:txBody>
      <dsp:txXfrm>
        <a:off x="62339" y="958593"/>
        <a:ext cx="3037342" cy="2294450"/>
      </dsp:txXfrm>
    </dsp:sp>
    <dsp:sp modelId="{6B80D745-2265-47BC-8834-AE9CAD52311A}">
      <dsp:nvSpPr>
        <dsp:cNvPr id="0" name=""/>
        <dsp:cNvSpPr/>
      </dsp:nvSpPr>
      <dsp:spPr>
        <a:xfrm>
          <a:off x="7287" y="3253044"/>
          <a:ext cx="3147446" cy="10102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>
              <a:solidFill>
                <a:srgbClr val="111111"/>
              </a:solidFill>
              <a:effectLst/>
              <a:latin typeface="-apple-system"/>
            </a:rPr>
            <a:t>Key Components:</a:t>
          </a:r>
          <a:endParaRPr lang="en-IN" sz="2900" kern="1200"/>
        </a:p>
      </dsp:txBody>
      <dsp:txXfrm>
        <a:off x="7287" y="3253044"/>
        <a:ext cx="2216511" cy="1010286"/>
      </dsp:txXfrm>
    </dsp:sp>
    <dsp:sp modelId="{29993962-D6CD-44C3-84ED-F41049779B32}">
      <dsp:nvSpPr>
        <dsp:cNvPr id="0" name=""/>
        <dsp:cNvSpPr/>
      </dsp:nvSpPr>
      <dsp:spPr>
        <a:xfrm>
          <a:off x="2312835" y="3413518"/>
          <a:ext cx="1101606" cy="110160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EECCB-18C0-4FE2-B34D-D790D17C3D2E}">
      <dsp:nvSpPr>
        <dsp:cNvPr id="0" name=""/>
        <dsp:cNvSpPr/>
      </dsp:nvSpPr>
      <dsp:spPr>
        <a:xfrm>
          <a:off x="3687357" y="903541"/>
          <a:ext cx="3147446" cy="234950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68580" rIns="22860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Finance: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Stock prices, economic indicators.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Retail: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Sales forecasting, inventory management.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Weather: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Temperature, precipitation patterns.</a:t>
          </a:r>
        </a:p>
      </dsp:txBody>
      <dsp:txXfrm>
        <a:off x="3742409" y="958593"/>
        <a:ext cx="3037342" cy="2294450"/>
      </dsp:txXfrm>
    </dsp:sp>
    <dsp:sp modelId="{4028DD63-F042-45F8-9689-AFD5D7D38707}">
      <dsp:nvSpPr>
        <dsp:cNvPr id="0" name=""/>
        <dsp:cNvSpPr/>
      </dsp:nvSpPr>
      <dsp:spPr>
        <a:xfrm>
          <a:off x="3687357" y="3253044"/>
          <a:ext cx="3147446" cy="10102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>
              <a:solidFill>
                <a:srgbClr val="111111"/>
              </a:solidFill>
              <a:effectLst/>
              <a:latin typeface="-apple-system"/>
            </a:rPr>
            <a:t>Applications:</a:t>
          </a:r>
          <a:endParaRPr lang="en-US" sz="2900" b="0" i="0" kern="1200" dirty="0">
            <a:solidFill>
              <a:srgbClr val="111111"/>
            </a:solidFill>
            <a:effectLst/>
            <a:latin typeface="-apple-system"/>
          </a:endParaRPr>
        </a:p>
      </dsp:txBody>
      <dsp:txXfrm>
        <a:off x="3687357" y="3253044"/>
        <a:ext cx="2216511" cy="1010286"/>
      </dsp:txXfrm>
    </dsp:sp>
    <dsp:sp modelId="{3FE16C7A-2D18-4099-9670-FAA9273DBF25}">
      <dsp:nvSpPr>
        <dsp:cNvPr id="0" name=""/>
        <dsp:cNvSpPr/>
      </dsp:nvSpPr>
      <dsp:spPr>
        <a:xfrm>
          <a:off x="5992905" y="3413518"/>
          <a:ext cx="1101606" cy="110160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51985-3C62-4469-94C0-F70256653AE5}">
      <dsp:nvSpPr>
        <dsp:cNvPr id="0" name=""/>
        <dsp:cNvSpPr/>
      </dsp:nvSpPr>
      <dsp:spPr>
        <a:xfrm>
          <a:off x="7367427" y="903541"/>
          <a:ext cx="3147446" cy="234950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68580" rIns="22860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Forecasting: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Predict future values based on past trends.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0" kern="1200" dirty="0">
              <a:solidFill>
                <a:srgbClr val="111111"/>
              </a:solidFill>
              <a:effectLst/>
              <a:latin typeface="-apple-system"/>
            </a:rPr>
            <a:t>Anomaly Detection:</a:t>
          </a:r>
          <a:r>
            <a:rPr lang="en-US" sz="1800" b="0" i="0" kern="1200" dirty="0">
              <a:solidFill>
                <a:srgbClr val="111111"/>
              </a:solidFill>
              <a:effectLst/>
              <a:latin typeface="-apple-system"/>
            </a:rPr>
            <a:t> Identify unusual patterns or outliers.</a:t>
          </a:r>
        </a:p>
      </dsp:txBody>
      <dsp:txXfrm>
        <a:off x="7422479" y="958593"/>
        <a:ext cx="3037342" cy="2294450"/>
      </dsp:txXfrm>
    </dsp:sp>
    <dsp:sp modelId="{E1957AA5-1835-4D36-A43A-CBA8610BB2AB}">
      <dsp:nvSpPr>
        <dsp:cNvPr id="0" name=""/>
        <dsp:cNvSpPr/>
      </dsp:nvSpPr>
      <dsp:spPr>
        <a:xfrm>
          <a:off x="7367427" y="3253044"/>
          <a:ext cx="3147446" cy="10102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111111"/>
              </a:solidFill>
              <a:latin typeface="-apple-system"/>
            </a:rPr>
            <a:t>Analysis</a:t>
          </a:r>
        </a:p>
      </dsp:txBody>
      <dsp:txXfrm>
        <a:off x="7367427" y="3253044"/>
        <a:ext cx="2216511" cy="1010286"/>
      </dsp:txXfrm>
    </dsp:sp>
    <dsp:sp modelId="{AD0B6BC6-220D-4133-9BCC-4292D3A7757A}">
      <dsp:nvSpPr>
        <dsp:cNvPr id="0" name=""/>
        <dsp:cNvSpPr/>
      </dsp:nvSpPr>
      <dsp:spPr>
        <a:xfrm>
          <a:off x="9672975" y="3413518"/>
          <a:ext cx="1101606" cy="1101606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D2DC7-87E7-43AE-9914-2E8AD9435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A58E1-8F50-4862-96D3-2696446C8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4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58E1-8F50-4862-96D3-2696446C83D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52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83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28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73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7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1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49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35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31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4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8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6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BBDE07-C9B4-4D95-BD00-DDE00F4743FF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B7596C-C671-49F3-BA22-2C37F873CC8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9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-brx/Time-series-analysis-project/blob/main/lstm-rnn-arimax-ar-models-and-analysis.ipynb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rohanrao/nifty50-stock-market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C8D3-9AC7-0F2E-C9E0-BE52DBA11E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dirty="0"/>
              <a:t>AIL 411-DEEP LEARNING LAB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A8822-37CD-0C66-2840-EABBF7E6A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Asha Rose Thomas</a:t>
            </a:r>
          </a:p>
          <a:p>
            <a:r>
              <a:rPr lang="en-US" dirty="0"/>
              <a:t>AP,CSE(AI),</a:t>
            </a:r>
            <a:r>
              <a:rPr lang="en-US" dirty="0" err="1"/>
              <a:t>ASIET,Kalady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22E9C-C32F-B39B-C163-F7A29774C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0"/>
            <a:ext cx="6156495" cy="1482015"/>
          </a:xfrm>
          <a:prstGeom prst="rect">
            <a:avLst/>
          </a:prstGeom>
        </p:spPr>
      </p:pic>
      <p:pic>
        <p:nvPicPr>
          <p:cNvPr id="6" name="Picture 5" descr="F:\AISAT Officals\JUNE 2015\OFICIAL DOCUMENTS\banner_1.png">
            <a:extLst>
              <a:ext uri="{FF2B5EF4-FFF2-40B4-BE49-F238E27FC236}">
                <a16:creationId xmlns:a16="http://schemas.microsoft.com/office/drawing/2014/main" id="{D33D1B55-7CAA-A9EE-E104-886FDFDD0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56495" cy="119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47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21F0-B487-0E4E-85A8-676D4BE4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7E330-53FD-2BBE-08D0-D844347A0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TimesNewRomanPSMT"/>
              </a:rPr>
              <a:t>Implement time series forecasting prediction for NIFTY-50 dataset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819B5-3643-86DD-8823-4E7B54A9E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608396-1EFB-A501-EADF-BF378921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14CD-C30C-472A-8956-F90A09EB0F58}" type="datetime1">
              <a:rPr lang="en-IN" smtClean="0"/>
              <a:t>15-10-2024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AB7701-5CB0-941A-26FB-DE0194BB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 Asha Rose Thomas, AP, CSE(AI),ASIET, </a:t>
            </a:r>
            <a:r>
              <a:rPr lang="en-US" dirty="0" err="1"/>
              <a:t>Kalady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25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CFE6-987E-BC79-4316-BD74EB2B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NIFTY-50 dataset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F2A240-317B-619A-2B64-BC04CAEFA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970198"/>
              </p:ext>
            </p:extLst>
          </p:nvPr>
        </p:nvGraphicFramePr>
        <p:xfrm>
          <a:off x="1096963" y="1846263"/>
          <a:ext cx="10130670" cy="443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011BAF0-4753-06F6-6FC7-FED56AE985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7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CFE6-987E-BC79-4316-BD74EB2B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NIFTY-50 dataset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F2A240-317B-619A-2B64-BC04CAEFAB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130670" cy="443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DC71FDC-3392-D21F-CA8B-FAB311ED9D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2FE-47F6-DE13-8508-F7C4349F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A583-651F-58A6-7151-7783A3EF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The Date - Trading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Symbol - Stock Name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Prev Close - Closing price of the stock on previous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Open - </a:t>
            </a:r>
            <a:r>
              <a:rPr lang="en-US" b="0" i="0" dirty="0" err="1">
                <a:solidFill>
                  <a:srgbClr val="151515"/>
                </a:solidFill>
                <a:effectLst/>
                <a:latin typeface="__Roboto_5f7967"/>
              </a:rPr>
              <a:t>Openning</a:t>
            </a: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 Price on the given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High - Highest Price on the given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Low - Lowest Price on the given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Last - Last Price on the given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Close - Closing Price on the given day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VWAP - Average price on the stock traded </a:t>
            </a:r>
            <a:r>
              <a:rPr lang="en-US" b="0" i="0" dirty="0" err="1">
                <a:solidFill>
                  <a:srgbClr val="151515"/>
                </a:solidFill>
                <a:effectLst/>
                <a:latin typeface="__Roboto_5f7967"/>
              </a:rPr>
              <a:t>througout</a:t>
            </a:r>
            <a:r>
              <a:rPr lang="en-US" b="0" i="0" dirty="0">
                <a:solidFill>
                  <a:srgbClr val="151515"/>
                </a:solidFill>
                <a:effectLst/>
                <a:latin typeface="__Roboto_5f7967"/>
              </a:rPr>
              <a:t> the day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8982D-FB19-E55B-A415-B56CCC666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0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791-95B4-8F7A-796D-B0D7FC23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details of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9DA7-F9ED-10C6-5D62-048A0247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B1B4F-E252-3D45-8D99-3CD5CA02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10822383" cy="3654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5A4E1E-1D81-4FB0-EF00-622480415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7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567A-ABC0-7021-265E-19D08761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E541B-C731-5D76-E1A0-7C23F41F6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sequence of data points collected or recorded at successive points in time, typically at uniform intervals.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E7DDA2-A1EE-F4BB-22D5-B8C863C32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51822"/>
              </p:ext>
            </p:extLst>
          </p:nvPr>
        </p:nvGraphicFramePr>
        <p:xfrm>
          <a:off x="1036319" y="1840558"/>
          <a:ext cx="1078186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BAC84C9-BE79-064C-A042-20C6F67298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1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574B-8252-67A2-26B8-5A11C2EB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series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2313D-797F-EF8C-C2A5-D7D1594E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06F97-3D4D-2131-950D-3CEF9AA5C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12" y="1845734"/>
            <a:ext cx="6685398" cy="43010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3E3C39-08C3-631B-EB59-5A9A065F8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0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DC53-A8BE-88B4-A17F-786A92D1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series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94E4-06F8-2F56-3700-36199C04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2" name="Picture 4" descr="Skforecast: Time series forecasting with python and scikit learn">
            <a:extLst>
              <a:ext uri="{FF2B5EF4-FFF2-40B4-BE49-F238E27FC236}">
                <a16:creationId xmlns:a16="http://schemas.microsoft.com/office/drawing/2014/main" id="{1B1AC0AD-2F8A-3F93-778D-FA0C3DD20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997" y="1975131"/>
            <a:ext cx="8875747" cy="411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2071AC-0C4F-D013-E7AF-09C620E04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57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FA80-64D4-7A2D-FE8E-E58FEA73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series 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3EEC-DDC0-3586-7A02-0E08F31A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Anomaly detection via a combination model in time series data | Applied  Intelligence">
            <a:extLst>
              <a:ext uri="{FF2B5EF4-FFF2-40B4-BE49-F238E27FC236}">
                <a16:creationId xmlns:a16="http://schemas.microsoft.com/office/drawing/2014/main" id="{3271972D-7A61-5191-C890-31AEF43EC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925" y="1845735"/>
            <a:ext cx="6241301" cy="423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1B5D96-31DA-512B-08B8-105BD80A7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9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0CC8-C540-0FB8-9563-0005AC2EC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RNN - </a:t>
            </a:r>
            <a:r>
              <a:rPr lang="en-US" dirty="0"/>
              <a:t>add immediate past to the present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9562-0493-965C-9E93-ABDD0509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514B-B52C-ABD5-2062-CA5A47D6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85EE-0BB6-45D4-95B9-198494DA533A}" type="datetime1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9E0EA-C8FC-6EDB-329F-0A2DA670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Asha Rose Thomas, AP, CSE(AI),ASIET, Kalady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7711A-437F-99F9-77A7-BBE45E94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77" y="1845734"/>
            <a:ext cx="8629714" cy="4412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94F729-E0CA-1D34-95D8-E38177B8A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6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3057-DEAB-3EDB-1BCF-93B0C5AD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RNN Cell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3F99-244C-66DD-2504-324700DCB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RNN Cell - Does this diagram contain multiple layers of neurons? - Sequence  Models - DeepLearning.AI">
            <a:extLst>
              <a:ext uri="{FF2B5EF4-FFF2-40B4-BE49-F238E27FC236}">
                <a16:creationId xmlns:a16="http://schemas.microsoft.com/office/drawing/2014/main" id="{24E905ED-347A-1697-97F0-501216F7B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00" y="1845734"/>
            <a:ext cx="11321790" cy="436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2124B-3290-942C-2219-F03172918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81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FDBC-FB73-3DF0-5096-A3A0EA97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E39F-1506-CDE4-5924-2AFD4BAF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BE17E-55E9-F998-1A39-AFF5E8175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34" y="0"/>
            <a:ext cx="3169366" cy="7817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F5516D-B2BC-C3A7-D797-B8AA9417D143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hlinkClick r:id="rId3"/>
              </a:rPr>
              <a:t>Time-series-analysis-project/</a:t>
            </a:r>
            <a:r>
              <a:rPr lang="en-IN" dirty="0" err="1">
                <a:hlinkClick r:id="rId3"/>
              </a:rPr>
              <a:t>lstm</a:t>
            </a:r>
            <a:r>
              <a:rPr lang="en-IN" dirty="0">
                <a:hlinkClick r:id="rId3"/>
              </a:rPr>
              <a:t>-</a:t>
            </a:r>
            <a:r>
              <a:rPr lang="en-IN" dirty="0" err="1">
                <a:hlinkClick r:id="rId3"/>
              </a:rPr>
              <a:t>rnn</a:t>
            </a:r>
            <a:r>
              <a:rPr lang="en-IN" dirty="0">
                <a:hlinkClick r:id="rId3"/>
              </a:rPr>
              <a:t>-</a:t>
            </a:r>
            <a:r>
              <a:rPr lang="en-IN" dirty="0" err="1">
                <a:hlinkClick r:id="rId3"/>
              </a:rPr>
              <a:t>arimax</a:t>
            </a:r>
            <a:r>
              <a:rPr lang="en-IN" dirty="0">
                <a:hlinkClick r:id="rId3"/>
              </a:rPr>
              <a:t>-</a:t>
            </a:r>
            <a:r>
              <a:rPr lang="en-IN" dirty="0" err="1">
                <a:hlinkClick r:id="rId3"/>
              </a:rPr>
              <a:t>ar</a:t>
            </a:r>
            <a:r>
              <a:rPr lang="en-IN" dirty="0">
                <a:hlinkClick r:id="rId3"/>
              </a:rPr>
              <a:t>-models-and-</a:t>
            </a:r>
            <a:r>
              <a:rPr lang="en-IN" dirty="0" err="1">
                <a:hlinkClick r:id="rId3"/>
              </a:rPr>
              <a:t>analysis.ipynb</a:t>
            </a:r>
            <a:r>
              <a:rPr lang="en-IN" dirty="0">
                <a:hlinkClick r:id="rId3"/>
              </a:rPr>
              <a:t> at main · ds-</a:t>
            </a:r>
            <a:r>
              <a:rPr lang="en-IN" dirty="0" err="1">
                <a:hlinkClick r:id="rId3"/>
              </a:rPr>
              <a:t>brx</a:t>
            </a:r>
            <a:r>
              <a:rPr lang="en-IN" dirty="0">
                <a:hlinkClick r:id="rId3"/>
              </a:rPr>
              <a:t>/Time-series-analysis-project · GitHub</a:t>
            </a:r>
            <a:endParaRPr lang="en-IN" dirty="0"/>
          </a:p>
          <a:p>
            <a:r>
              <a:rPr lang="en-US" dirty="0">
                <a:hlinkClick r:id="rId4"/>
              </a:rPr>
              <a:t>NIFTY-50 Stock Market Data (2000 - 2021) (kaggle.com)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7574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1104</TotalTime>
  <Words>522</Words>
  <Application>Microsoft Office PowerPoint</Application>
  <PresentationFormat>Widescreen</PresentationFormat>
  <Paragraphs>77</Paragraphs>
  <Slides>13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__Roboto_5f7967</vt:lpstr>
      <vt:lpstr>-apple-system</vt:lpstr>
      <vt:lpstr>Arial</vt:lpstr>
      <vt:lpstr>Calibri</vt:lpstr>
      <vt:lpstr>Calibri Light</vt:lpstr>
      <vt:lpstr>TimesNewRomanPSMT</vt:lpstr>
      <vt:lpstr>Retrospect</vt:lpstr>
      <vt:lpstr>AIL 411-DEEP LEARNING LAB</vt:lpstr>
      <vt:lpstr>EXPERIMENT 9</vt:lpstr>
      <vt:lpstr>NIFTY-50 dataset</vt:lpstr>
      <vt:lpstr>NIFTY-50 dataset</vt:lpstr>
      <vt:lpstr>Dataset features</vt:lpstr>
      <vt:lpstr>Sample details of the dataset</vt:lpstr>
      <vt:lpstr>Time series data</vt:lpstr>
      <vt:lpstr>Time series components </vt:lpstr>
      <vt:lpstr>Time series forecasting</vt:lpstr>
      <vt:lpstr>Time series Anomaly detection</vt:lpstr>
      <vt:lpstr>RNN - add immediate past to the present</vt:lpstr>
      <vt:lpstr>RNN Cell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Asha Rose Thomas</dc:creator>
  <cp:lastModifiedBy>Asha Rose Thomas</cp:lastModifiedBy>
  <cp:revision>26</cp:revision>
  <dcterms:created xsi:type="dcterms:W3CDTF">2024-07-14T14:57:03Z</dcterms:created>
  <dcterms:modified xsi:type="dcterms:W3CDTF">2024-10-15T04:08:07Z</dcterms:modified>
</cp:coreProperties>
</file>
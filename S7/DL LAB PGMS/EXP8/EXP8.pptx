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Lst>
  <p:sldSz cy="6858000" cx="12192000"/>
  <p:notesSz cx="6858000" cy="9144000"/>
  <p:embeddedFontLst>
    <p:embeddedFont>
      <p:font typeface="Inter"/>
      <p:regular r:id="rId11"/>
      <p:bold r:id="rId12"/>
      <p:italic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 roundtripDataSignature="AMtx7mi4KEXNl2KSAn86t9SJi51M4X2Le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Inter-regular.fntdata"/><Relationship Id="rId10" Type="http://schemas.openxmlformats.org/officeDocument/2006/relationships/slide" Target="slides/slide6.xml"/><Relationship Id="rId13" Type="http://schemas.openxmlformats.org/officeDocument/2006/relationships/font" Target="fonts/Inter-italic.fntdata"/><Relationship Id="rId12" Type="http://schemas.openxmlformats.org/officeDocument/2006/relationships/font" Target="fonts/Inter-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customschemas.google.com/relationships/presentationmetadata" Target="metadata"/><Relationship Id="rId14" Type="http://schemas.openxmlformats.org/officeDocument/2006/relationships/font" Target="fonts/Inter-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a:solidFill>
                  <a:srgbClr val="111111"/>
                </a:solidFill>
                <a:highlight>
                  <a:srgbClr val="F7F7F7"/>
                </a:highlight>
                <a:latin typeface="Arial"/>
                <a:ea typeface="Arial"/>
                <a:cs typeface="Arial"/>
                <a:sym typeface="Arial"/>
              </a:rPr>
              <a:t>Intuitive Explanation of an LSTM Cell</a:t>
            </a:r>
            <a:endParaRPr/>
          </a:p>
          <a:p>
            <a:pPr indent="0" lvl="0" marL="0" rtl="0" algn="l">
              <a:spcBef>
                <a:spcPts val="0"/>
              </a:spcBef>
              <a:spcAft>
                <a:spcPts val="0"/>
              </a:spcAft>
              <a:buNone/>
            </a:pPr>
            <a:r>
              <a:rPr b="0" i="0" lang="en-US">
                <a:solidFill>
                  <a:srgbClr val="111111"/>
                </a:solidFill>
                <a:highlight>
                  <a:srgbClr val="F7F7F7"/>
                </a:highlight>
                <a:latin typeface="Arial"/>
                <a:ea typeface="Arial"/>
                <a:cs typeface="Arial"/>
                <a:sym typeface="Arial"/>
              </a:rPr>
              <a:t>Imagine you are trying to remember a story that someone is telling you. As the story progresses, you need to remember important details from earlier in the story while also paying attention to new information. This is similar to how an LSTM cell works.</a:t>
            </a:r>
            <a:endParaRPr/>
          </a:p>
          <a:p>
            <a:pPr indent="0" lvl="0" marL="0" rtl="0" algn="l">
              <a:spcBef>
                <a:spcPts val="0"/>
              </a:spcBef>
              <a:spcAft>
                <a:spcPts val="0"/>
              </a:spcAft>
              <a:buNone/>
            </a:pPr>
            <a:r>
              <a:rPr b="1" i="0" lang="en-US">
                <a:solidFill>
                  <a:srgbClr val="111111"/>
                </a:solidFill>
                <a:highlight>
                  <a:srgbClr val="F7F7F7"/>
                </a:highlight>
                <a:latin typeface="Arial"/>
                <a:ea typeface="Arial"/>
                <a:cs typeface="Arial"/>
                <a:sym typeface="Arial"/>
              </a:rPr>
              <a:t>Key Components of an LSTM Cell</a:t>
            </a:r>
            <a:endParaRPr/>
          </a:p>
          <a:p>
            <a:pPr indent="-76200" lvl="0" marL="0" rtl="0" algn="l">
              <a:spcBef>
                <a:spcPts val="0"/>
              </a:spcBef>
              <a:spcAft>
                <a:spcPts val="0"/>
              </a:spcAft>
              <a:buClr>
                <a:srgbClr val="111111"/>
              </a:buClr>
              <a:buSzPts val="1200"/>
              <a:buFont typeface="Calibri"/>
              <a:buAutoNum type="arabicPeriod"/>
            </a:pPr>
            <a:r>
              <a:rPr b="1" i="0" lang="en-US">
                <a:solidFill>
                  <a:srgbClr val="111111"/>
                </a:solidFill>
                <a:highlight>
                  <a:srgbClr val="F7F7F7"/>
                </a:highlight>
                <a:latin typeface="Arial"/>
                <a:ea typeface="Arial"/>
                <a:cs typeface="Arial"/>
                <a:sym typeface="Arial"/>
              </a:rPr>
              <a:t>Cell State</a:t>
            </a:r>
            <a:r>
              <a:rPr b="0" i="0" lang="en-US">
                <a:solidFill>
                  <a:srgbClr val="111111"/>
                </a:solidFill>
                <a:highlight>
                  <a:srgbClr val="F7F7F7"/>
                </a:highlight>
                <a:latin typeface="Arial"/>
                <a:ea typeface="Arial"/>
                <a:cs typeface="Arial"/>
                <a:sym typeface="Arial"/>
              </a:rPr>
              <a:t>:</a:t>
            </a:r>
            <a:endParaRPr/>
          </a:p>
          <a:p>
            <a:pPr indent="-285750" lvl="1" marL="742950" rtl="0" algn="l">
              <a:spcBef>
                <a:spcPts val="0"/>
              </a:spcBef>
              <a:spcAft>
                <a:spcPts val="0"/>
              </a:spcAft>
              <a:buClr>
                <a:srgbClr val="111111"/>
              </a:buClr>
              <a:buSzPts val="1200"/>
              <a:buFont typeface="Calibri"/>
              <a:buAutoNum type="arabicPeriod"/>
            </a:pPr>
            <a:r>
              <a:rPr b="1" i="0" lang="en-US">
                <a:solidFill>
                  <a:srgbClr val="111111"/>
                </a:solidFill>
                <a:highlight>
                  <a:srgbClr val="F7F7F7"/>
                </a:highlight>
                <a:latin typeface="Arial"/>
                <a:ea typeface="Arial"/>
                <a:cs typeface="Arial"/>
                <a:sym typeface="Arial"/>
              </a:rPr>
              <a:t>Analogy</a:t>
            </a:r>
            <a:r>
              <a:rPr b="0" i="0" lang="en-US">
                <a:solidFill>
                  <a:srgbClr val="111111"/>
                </a:solidFill>
                <a:highlight>
                  <a:srgbClr val="F7F7F7"/>
                </a:highlight>
                <a:latin typeface="Arial"/>
                <a:ea typeface="Arial"/>
                <a:cs typeface="Arial"/>
                <a:sym typeface="Arial"/>
              </a:rPr>
              <a:t>: Think of the cell state as a conveyor belt running through the entire story. It carries important details from the beginning to the end without much change.</a:t>
            </a:r>
            <a:endParaRPr/>
          </a:p>
          <a:p>
            <a:pPr indent="-285750" lvl="1" marL="742950" rtl="0" algn="l">
              <a:spcBef>
                <a:spcPts val="0"/>
              </a:spcBef>
              <a:spcAft>
                <a:spcPts val="0"/>
              </a:spcAft>
              <a:buClr>
                <a:srgbClr val="111111"/>
              </a:buClr>
              <a:buSzPts val="1200"/>
              <a:buFont typeface="Calibri"/>
              <a:buAutoNum type="arabicPeriod"/>
            </a:pPr>
            <a:r>
              <a:rPr b="1" i="0" lang="en-US">
                <a:solidFill>
                  <a:srgbClr val="111111"/>
                </a:solidFill>
                <a:highlight>
                  <a:srgbClr val="F7F7F7"/>
                </a:highlight>
                <a:latin typeface="Arial"/>
                <a:ea typeface="Arial"/>
                <a:cs typeface="Arial"/>
                <a:sym typeface="Arial"/>
              </a:rPr>
              <a:t>Function</a:t>
            </a:r>
            <a:r>
              <a:rPr b="0" i="0" lang="en-US">
                <a:solidFill>
                  <a:srgbClr val="111111"/>
                </a:solidFill>
                <a:highlight>
                  <a:srgbClr val="F7F7F7"/>
                </a:highlight>
                <a:latin typeface="Arial"/>
                <a:ea typeface="Arial"/>
                <a:cs typeface="Arial"/>
                <a:sym typeface="Arial"/>
              </a:rPr>
              <a:t>: This conveyor belt helps maintain important information over long periods.</a:t>
            </a:r>
            <a:endParaRPr/>
          </a:p>
          <a:p>
            <a:pPr indent="-76200" lvl="0" marL="0" rtl="0" algn="l">
              <a:spcBef>
                <a:spcPts val="0"/>
              </a:spcBef>
              <a:spcAft>
                <a:spcPts val="0"/>
              </a:spcAft>
              <a:buClr>
                <a:srgbClr val="111111"/>
              </a:buClr>
              <a:buSzPts val="1200"/>
              <a:buFont typeface="Calibri"/>
              <a:buAutoNum type="arabicPeriod"/>
            </a:pPr>
            <a:r>
              <a:rPr b="1" i="0" lang="en-US">
                <a:solidFill>
                  <a:srgbClr val="111111"/>
                </a:solidFill>
                <a:highlight>
                  <a:srgbClr val="F7F7F7"/>
                </a:highlight>
                <a:latin typeface="Arial"/>
                <a:ea typeface="Arial"/>
                <a:cs typeface="Arial"/>
                <a:sym typeface="Arial"/>
              </a:rPr>
              <a:t>Gates</a:t>
            </a:r>
            <a:r>
              <a:rPr b="0" i="0" lang="en-US">
                <a:solidFill>
                  <a:srgbClr val="111111"/>
                </a:solidFill>
                <a:highlight>
                  <a:srgbClr val="F7F7F7"/>
                </a:highlight>
                <a:latin typeface="Arial"/>
                <a:ea typeface="Arial"/>
                <a:cs typeface="Arial"/>
                <a:sym typeface="Arial"/>
              </a:rPr>
              <a:t>:</a:t>
            </a:r>
            <a:endParaRPr/>
          </a:p>
          <a:p>
            <a:pPr indent="-285750" lvl="1" marL="742950" rtl="0" algn="l">
              <a:spcBef>
                <a:spcPts val="0"/>
              </a:spcBef>
              <a:spcAft>
                <a:spcPts val="0"/>
              </a:spcAft>
              <a:buClr>
                <a:srgbClr val="111111"/>
              </a:buClr>
              <a:buSzPts val="1200"/>
              <a:buFont typeface="Calibri"/>
              <a:buAutoNum type="arabicPeriod"/>
            </a:pPr>
            <a:r>
              <a:rPr b="1" i="0" lang="en-US">
                <a:solidFill>
                  <a:srgbClr val="111111"/>
                </a:solidFill>
                <a:highlight>
                  <a:srgbClr val="F7F7F7"/>
                </a:highlight>
                <a:latin typeface="Arial"/>
                <a:ea typeface="Arial"/>
                <a:cs typeface="Arial"/>
                <a:sym typeface="Arial"/>
              </a:rPr>
              <a:t>Input Gate</a:t>
            </a:r>
            <a:r>
              <a:rPr b="0" i="0" lang="en-US">
                <a:solidFill>
                  <a:srgbClr val="111111"/>
                </a:solidFill>
                <a:highlight>
                  <a:srgbClr val="F7F7F7"/>
                </a:highlight>
                <a:latin typeface="Arial"/>
                <a:ea typeface="Arial"/>
                <a:cs typeface="Arial"/>
                <a:sym typeface="Arial"/>
              </a:rPr>
              <a:t>:</a:t>
            </a:r>
            <a:endParaRPr/>
          </a:p>
          <a:p>
            <a:pPr indent="-228600" lvl="2" marL="1143000" rtl="0" algn="l">
              <a:spcBef>
                <a:spcPts val="0"/>
              </a:spcBef>
              <a:spcAft>
                <a:spcPts val="0"/>
              </a:spcAft>
              <a:buClr>
                <a:srgbClr val="111111"/>
              </a:buClr>
              <a:buSzPts val="1200"/>
              <a:buFont typeface="Calibri"/>
              <a:buAutoNum type="arabicPeriod"/>
            </a:pPr>
            <a:r>
              <a:rPr b="1" i="0" lang="en-US">
                <a:solidFill>
                  <a:srgbClr val="111111"/>
                </a:solidFill>
                <a:highlight>
                  <a:srgbClr val="F7F7F7"/>
                </a:highlight>
                <a:latin typeface="Arial"/>
                <a:ea typeface="Arial"/>
                <a:cs typeface="Arial"/>
                <a:sym typeface="Arial"/>
              </a:rPr>
              <a:t>Analogy</a:t>
            </a:r>
            <a:r>
              <a:rPr b="0" i="0" lang="en-US">
                <a:solidFill>
                  <a:srgbClr val="111111"/>
                </a:solidFill>
                <a:highlight>
                  <a:srgbClr val="F7F7F7"/>
                </a:highlight>
                <a:latin typeface="Arial"/>
                <a:ea typeface="Arial"/>
                <a:cs typeface="Arial"/>
                <a:sym typeface="Arial"/>
              </a:rPr>
              <a:t>: Imagine you have a filter that decides what new information from the story should be added to your memory.</a:t>
            </a:r>
            <a:endParaRPr/>
          </a:p>
          <a:p>
            <a:pPr indent="-228600" lvl="2" marL="1143000" rtl="0" algn="l">
              <a:spcBef>
                <a:spcPts val="0"/>
              </a:spcBef>
              <a:spcAft>
                <a:spcPts val="0"/>
              </a:spcAft>
              <a:buClr>
                <a:srgbClr val="111111"/>
              </a:buClr>
              <a:buSzPts val="1200"/>
              <a:buFont typeface="Calibri"/>
              <a:buAutoNum type="arabicPeriod"/>
            </a:pPr>
            <a:r>
              <a:rPr b="1" i="0" lang="en-US">
                <a:solidFill>
                  <a:srgbClr val="111111"/>
                </a:solidFill>
                <a:highlight>
                  <a:srgbClr val="F7F7F7"/>
                </a:highlight>
                <a:latin typeface="Arial"/>
                <a:ea typeface="Arial"/>
                <a:cs typeface="Arial"/>
                <a:sym typeface="Arial"/>
              </a:rPr>
              <a:t>Function</a:t>
            </a:r>
            <a:r>
              <a:rPr b="0" i="0" lang="en-US">
                <a:solidFill>
                  <a:srgbClr val="111111"/>
                </a:solidFill>
                <a:highlight>
                  <a:srgbClr val="F7F7F7"/>
                </a:highlight>
                <a:latin typeface="Arial"/>
                <a:ea typeface="Arial"/>
                <a:cs typeface="Arial"/>
                <a:sym typeface="Arial"/>
              </a:rPr>
              <a:t>: Controls how much new information is added to the cell state.</a:t>
            </a:r>
            <a:endParaRPr/>
          </a:p>
          <a:p>
            <a:pPr indent="-285750" lvl="1" marL="742950" rtl="0" algn="l">
              <a:spcBef>
                <a:spcPts val="0"/>
              </a:spcBef>
              <a:spcAft>
                <a:spcPts val="0"/>
              </a:spcAft>
              <a:buClr>
                <a:srgbClr val="111111"/>
              </a:buClr>
              <a:buSzPts val="1200"/>
              <a:buFont typeface="Calibri"/>
              <a:buAutoNum type="arabicPeriod"/>
            </a:pPr>
            <a:r>
              <a:rPr b="1" i="0" lang="en-US">
                <a:solidFill>
                  <a:srgbClr val="111111"/>
                </a:solidFill>
                <a:highlight>
                  <a:srgbClr val="F7F7F7"/>
                </a:highlight>
                <a:latin typeface="Arial"/>
                <a:ea typeface="Arial"/>
                <a:cs typeface="Arial"/>
                <a:sym typeface="Arial"/>
              </a:rPr>
              <a:t>Forget Gate</a:t>
            </a:r>
            <a:r>
              <a:rPr b="0" i="0" lang="en-US">
                <a:solidFill>
                  <a:srgbClr val="111111"/>
                </a:solidFill>
                <a:highlight>
                  <a:srgbClr val="F7F7F7"/>
                </a:highlight>
                <a:latin typeface="Arial"/>
                <a:ea typeface="Arial"/>
                <a:cs typeface="Arial"/>
                <a:sym typeface="Arial"/>
              </a:rPr>
              <a:t>:</a:t>
            </a:r>
            <a:endParaRPr/>
          </a:p>
          <a:p>
            <a:pPr indent="-228600" lvl="2" marL="1143000" rtl="0" algn="l">
              <a:spcBef>
                <a:spcPts val="0"/>
              </a:spcBef>
              <a:spcAft>
                <a:spcPts val="0"/>
              </a:spcAft>
              <a:buClr>
                <a:srgbClr val="111111"/>
              </a:buClr>
              <a:buSzPts val="1200"/>
              <a:buFont typeface="Calibri"/>
              <a:buAutoNum type="arabicPeriod"/>
            </a:pPr>
            <a:r>
              <a:rPr b="1" i="0" lang="en-US">
                <a:solidFill>
                  <a:srgbClr val="111111"/>
                </a:solidFill>
                <a:highlight>
                  <a:srgbClr val="F7F7F7"/>
                </a:highlight>
                <a:latin typeface="Arial"/>
                <a:ea typeface="Arial"/>
                <a:cs typeface="Arial"/>
                <a:sym typeface="Arial"/>
              </a:rPr>
              <a:t>Analogy</a:t>
            </a:r>
            <a:r>
              <a:rPr b="0" i="0" lang="en-US">
                <a:solidFill>
                  <a:srgbClr val="111111"/>
                </a:solidFill>
                <a:highlight>
                  <a:srgbClr val="F7F7F7"/>
                </a:highlight>
                <a:latin typeface="Arial"/>
                <a:ea typeface="Arial"/>
                <a:cs typeface="Arial"/>
                <a:sym typeface="Arial"/>
              </a:rPr>
              <a:t>: You also have a filter that decides what old information is no longer relevant and can be forgotten.</a:t>
            </a:r>
            <a:endParaRPr/>
          </a:p>
          <a:p>
            <a:pPr indent="-228600" lvl="2" marL="1143000" rtl="0" algn="l">
              <a:spcBef>
                <a:spcPts val="0"/>
              </a:spcBef>
              <a:spcAft>
                <a:spcPts val="0"/>
              </a:spcAft>
              <a:buClr>
                <a:srgbClr val="111111"/>
              </a:buClr>
              <a:buSzPts val="1200"/>
              <a:buFont typeface="Calibri"/>
              <a:buAutoNum type="arabicPeriod"/>
            </a:pPr>
            <a:r>
              <a:rPr b="1" i="0" lang="en-US">
                <a:solidFill>
                  <a:srgbClr val="111111"/>
                </a:solidFill>
                <a:highlight>
                  <a:srgbClr val="F7F7F7"/>
                </a:highlight>
                <a:latin typeface="Arial"/>
                <a:ea typeface="Arial"/>
                <a:cs typeface="Arial"/>
                <a:sym typeface="Arial"/>
              </a:rPr>
              <a:t>Function</a:t>
            </a:r>
            <a:r>
              <a:rPr b="0" i="0" lang="en-US">
                <a:solidFill>
                  <a:srgbClr val="111111"/>
                </a:solidFill>
                <a:highlight>
                  <a:srgbClr val="F7F7F7"/>
                </a:highlight>
                <a:latin typeface="Arial"/>
                <a:ea typeface="Arial"/>
                <a:cs typeface="Arial"/>
                <a:sym typeface="Arial"/>
              </a:rPr>
              <a:t>: Decides what information to discard from the cell state.</a:t>
            </a:r>
            <a:endParaRPr/>
          </a:p>
          <a:p>
            <a:pPr indent="-285750" lvl="1" marL="742950" rtl="0" algn="l">
              <a:spcBef>
                <a:spcPts val="0"/>
              </a:spcBef>
              <a:spcAft>
                <a:spcPts val="0"/>
              </a:spcAft>
              <a:buClr>
                <a:srgbClr val="111111"/>
              </a:buClr>
              <a:buSzPts val="1200"/>
              <a:buFont typeface="Calibri"/>
              <a:buAutoNum type="arabicPeriod"/>
            </a:pPr>
            <a:r>
              <a:rPr b="1" i="0" lang="en-US">
                <a:solidFill>
                  <a:srgbClr val="111111"/>
                </a:solidFill>
                <a:highlight>
                  <a:srgbClr val="F7F7F7"/>
                </a:highlight>
                <a:latin typeface="Arial"/>
                <a:ea typeface="Arial"/>
                <a:cs typeface="Arial"/>
                <a:sym typeface="Arial"/>
              </a:rPr>
              <a:t>Output Gate</a:t>
            </a:r>
            <a:r>
              <a:rPr b="0" i="0" lang="en-US">
                <a:solidFill>
                  <a:srgbClr val="111111"/>
                </a:solidFill>
                <a:highlight>
                  <a:srgbClr val="F7F7F7"/>
                </a:highlight>
                <a:latin typeface="Arial"/>
                <a:ea typeface="Arial"/>
                <a:cs typeface="Arial"/>
                <a:sym typeface="Arial"/>
              </a:rPr>
              <a:t>:</a:t>
            </a:r>
            <a:endParaRPr/>
          </a:p>
          <a:p>
            <a:pPr indent="-228600" lvl="2" marL="1143000" rtl="0" algn="l">
              <a:spcBef>
                <a:spcPts val="0"/>
              </a:spcBef>
              <a:spcAft>
                <a:spcPts val="0"/>
              </a:spcAft>
              <a:buClr>
                <a:srgbClr val="111111"/>
              </a:buClr>
              <a:buSzPts val="1200"/>
              <a:buFont typeface="Calibri"/>
              <a:buAutoNum type="arabicPeriod"/>
            </a:pPr>
            <a:r>
              <a:rPr b="1" i="0" lang="en-US">
                <a:solidFill>
                  <a:srgbClr val="111111"/>
                </a:solidFill>
                <a:highlight>
                  <a:srgbClr val="F7F7F7"/>
                </a:highlight>
                <a:latin typeface="Arial"/>
                <a:ea typeface="Arial"/>
                <a:cs typeface="Arial"/>
                <a:sym typeface="Arial"/>
              </a:rPr>
              <a:t>Analogy</a:t>
            </a:r>
            <a:r>
              <a:rPr b="0" i="0" lang="en-US">
                <a:solidFill>
                  <a:srgbClr val="111111"/>
                </a:solidFill>
                <a:highlight>
                  <a:srgbClr val="F7F7F7"/>
                </a:highlight>
                <a:latin typeface="Arial"/>
                <a:ea typeface="Arial"/>
                <a:cs typeface="Arial"/>
                <a:sym typeface="Arial"/>
              </a:rPr>
              <a:t>: Finally, you have a filter that decides what information from your memory should be used to understand the next part of the story.</a:t>
            </a:r>
            <a:endParaRPr/>
          </a:p>
          <a:p>
            <a:pPr indent="-228600" lvl="2" marL="1143000" rtl="0" algn="l">
              <a:spcBef>
                <a:spcPts val="0"/>
              </a:spcBef>
              <a:spcAft>
                <a:spcPts val="0"/>
              </a:spcAft>
              <a:buClr>
                <a:srgbClr val="111111"/>
              </a:buClr>
              <a:buSzPts val="1200"/>
              <a:buFont typeface="Calibri"/>
              <a:buAutoNum type="arabicPeriod"/>
            </a:pPr>
            <a:r>
              <a:rPr b="1" i="0" lang="en-US">
                <a:solidFill>
                  <a:srgbClr val="111111"/>
                </a:solidFill>
                <a:highlight>
                  <a:srgbClr val="F7F7F7"/>
                </a:highlight>
                <a:latin typeface="Arial"/>
                <a:ea typeface="Arial"/>
                <a:cs typeface="Arial"/>
                <a:sym typeface="Arial"/>
              </a:rPr>
              <a:t>Function</a:t>
            </a:r>
            <a:r>
              <a:rPr b="0" i="0" lang="en-US">
                <a:solidFill>
                  <a:srgbClr val="111111"/>
                </a:solidFill>
                <a:highlight>
                  <a:srgbClr val="F7F7F7"/>
                </a:highlight>
                <a:latin typeface="Arial"/>
                <a:ea typeface="Arial"/>
                <a:cs typeface="Arial"/>
                <a:sym typeface="Arial"/>
              </a:rPr>
              <a:t>: Determines the output based on the cell state and the current input.</a:t>
            </a:r>
            <a:endParaRPr/>
          </a:p>
          <a:p>
            <a:pPr indent="0" lvl="0" marL="0" rtl="0" algn="l">
              <a:spcBef>
                <a:spcPts val="0"/>
              </a:spcBef>
              <a:spcAft>
                <a:spcPts val="0"/>
              </a:spcAft>
              <a:buNone/>
            </a:pPr>
            <a:r>
              <a:rPr b="1" i="0" lang="en-US">
                <a:solidFill>
                  <a:srgbClr val="111111"/>
                </a:solidFill>
                <a:highlight>
                  <a:srgbClr val="F7F7F7"/>
                </a:highlight>
                <a:latin typeface="Arial"/>
                <a:ea typeface="Arial"/>
                <a:cs typeface="Arial"/>
                <a:sym typeface="Arial"/>
              </a:rPr>
              <a:t>How It Works Together</a:t>
            </a:r>
            <a:endParaRPr/>
          </a:p>
          <a:p>
            <a:pPr indent="-76200" lvl="0" marL="0" rtl="0" algn="l">
              <a:spcBef>
                <a:spcPts val="0"/>
              </a:spcBef>
              <a:spcAft>
                <a:spcPts val="0"/>
              </a:spcAft>
              <a:buClr>
                <a:srgbClr val="111111"/>
              </a:buClr>
              <a:buSzPts val="1200"/>
              <a:buFont typeface="Calibri"/>
              <a:buAutoNum type="arabicPeriod"/>
            </a:pPr>
            <a:r>
              <a:rPr b="1" i="0" lang="en-US">
                <a:solidFill>
                  <a:srgbClr val="111111"/>
                </a:solidFill>
                <a:highlight>
                  <a:srgbClr val="F7F7F7"/>
                </a:highlight>
                <a:latin typeface="Arial"/>
                <a:ea typeface="Arial"/>
                <a:cs typeface="Arial"/>
                <a:sym typeface="Arial"/>
              </a:rPr>
              <a:t>Maintaining Important Information</a:t>
            </a:r>
            <a:r>
              <a:rPr b="0" i="0" lang="en-US">
                <a:solidFill>
                  <a:srgbClr val="111111"/>
                </a:solidFill>
                <a:highlight>
                  <a:srgbClr val="F7F7F7"/>
                </a:highlight>
                <a:latin typeface="Arial"/>
                <a:ea typeface="Arial"/>
                <a:cs typeface="Arial"/>
                <a:sym typeface="Arial"/>
              </a:rPr>
              <a:t>:</a:t>
            </a:r>
            <a:endParaRPr/>
          </a:p>
          <a:p>
            <a:pPr indent="-285750" lvl="1" marL="742950" rtl="0" algn="l">
              <a:spcBef>
                <a:spcPts val="0"/>
              </a:spcBef>
              <a:spcAft>
                <a:spcPts val="0"/>
              </a:spcAft>
              <a:buClr>
                <a:srgbClr val="111111"/>
              </a:buClr>
              <a:buSzPts val="1200"/>
              <a:buFont typeface="Calibri"/>
              <a:buAutoNum type="arabicPeriod" startAt="2"/>
            </a:pPr>
            <a:r>
              <a:rPr b="0" i="0" lang="en-US">
                <a:solidFill>
                  <a:srgbClr val="111111"/>
                </a:solidFill>
                <a:highlight>
                  <a:srgbClr val="F7F7F7"/>
                </a:highlight>
                <a:latin typeface="Arial"/>
                <a:ea typeface="Arial"/>
                <a:cs typeface="Arial"/>
                <a:sym typeface="Arial"/>
              </a:rPr>
              <a:t>The cell state (conveyor belt) carries important details throughout the story, ensuring that crucial information is not lost over time.</a:t>
            </a:r>
            <a:endParaRPr/>
          </a:p>
          <a:p>
            <a:pPr indent="-76200" lvl="0" marL="0" rtl="0" algn="l">
              <a:spcBef>
                <a:spcPts val="0"/>
              </a:spcBef>
              <a:spcAft>
                <a:spcPts val="0"/>
              </a:spcAft>
              <a:buClr>
                <a:srgbClr val="111111"/>
              </a:buClr>
              <a:buSzPts val="1200"/>
              <a:buFont typeface="Calibri"/>
              <a:buAutoNum type="arabicPeriod"/>
            </a:pPr>
            <a:r>
              <a:rPr b="1" i="0" lang="en-US">
                <a:solidFill>
                  <a:srgbClr val="111111"/>
                </a:solidFill>
                <a:highlight>
                  <a:srgbClr val="F7F7F7"/>
                </a:highlight>
                <a:latin typeface="Arial"/>
                <a:ea typeface="Arial"/>
                <a:cs typeface="Arial"/>
                <a:sym typeface="Arial"/>
              </a:rPr>
              <a:t>Selective Memory</a:t>
            </a:r>
            <a:r>
              <a:rPr b="0" i="0" lang="en-US">
                <a:solidFill>
                  <a:srgbClr val="111111"/>
                </a:solidFill>
                <a:highlight>
                  <a:srgbClr val="F7F7F7"/>
                </a:highlight>
                <a:latin typeface="Arial"/>
                <a:ea typeface="Arial"/>
                <a:cs typeface="Arial"/>
                <a:sym typeface="Arial"/>
              </a:rPr>
              <a:t>:</a:t>
            </a:r>
            <a:endParaRPr/>
          </a:p>
          <a:p>
            <a:pPr indent="-285750" lvl="1" marL="742950" rtl="0" algn="l">
              <a:spcBef>
                <a:spcPts val="0"/>
              </a:spcBef>
              <a:spcAft>
                <a:spcPts val="0"/>
              </a:spcAft>
              <a:buClr>
                <a:srgbClr val="111111"/>
              </a:buClr>
              <a:buSzPts val="1200"/>
              <a:buFont typeface="Calibri"/>
              <a:buAutoNum type="arabicPeriod" startAt="2"/>
            </a:pPr>
            <a:r>
              <a:rPr b="0" i="0" lang="en-US">
                <a:solidFill>
                  <a:srgbClr val="111111"/>
                </a:solidFill>
                <a:highlight>
                  <a:srgbClr val="F7F7F7"/>
                </a:highlight>
                <a:latin typeface="Arial"/>
                <a:ea typeface="Arial"/>
                <a:cs typeface="Arial"/>
                <a:sym typeface="Arial"/>
              </a:rPr>
              <a:t>The input gate filter allows only relevant new information to be added to your memory.</a:t>
            </a:r>
            <a:endParaRPr/>
          </a:p>
          <a:p>
            <a:pPr indent="-285750" lvl="1" marL="742950" rtl="0" algn="l">
              <a:spcBef>
                <a:spcPts val="0"/>
              </a:spcBef>
              <a:spcAft>
                <a:spcPts val="0"/>
              </a:spcAft>
              <a:buClr>
                <a:srgbClr val="111111"/>
              </a:buClr>
              <a:buSzPts val="1200"/>
              <a:buFont typeface="Calibri"/>
              <a:buAutoNum type="arabicPeriod" startAt="2"/>
            </a:pPr>
            <a:r>
              <a:rPr b="0" i="0" lang="en-US">
                <a:solidFill>
                  <a:srgbClr val="111111"/>
                </a:solidFill>
                <a:highlight>
                  <a:srgbClr val="F7F7F7"/>
                </a:highlight>
                <a:latin typeface="Arial"/>
                <a:ea typeface="Arial"/>
                <a:cs typeface="Arial"/>
                <a:sym typeface="Arial"/>
              </a:rPr>
              <a:t>The forget gate filter removes unnecessary old information, keeping your memory efficient.</a:t>
            </a:r>
            <a:endParaRPr/>
          </a:p>
          <a:p>
            <a:pPr indent="-285750" lvl="1" marL="742950" rtl="0" algn="l">
              <a:spcBef>
                <a:spcPts val="0"/>
              </a:spcBef>
              <a:spcAft>
                <a:spcPts val="0"/>
              </a:spcAft>
              <a:buClr>
                <a:srgbClr val="111111"/>
              </a:buClr>
              <a:buSzPts val="1200"/>
              <a:buFont typeface="Calibri"/>
              <a:buAutoNum type="arabicPeriod" startAt="2"/>
            </a:pPr>
            <a:r>
              <a:rPr b="0" i="0" lang="en-US">
                <a:solidFill>
                  <a:srgbClr val="111111"/>
                </a:solidFill>
                <a:highlight>
                  <a:srgbClr val="F7F7F7"/>
                </a:highlight>
                <a:latin typeface="Arial"/>
                <a:ea typeface="Arial"/>
                <a:cs typeface="Arial"/>
                <a:sym typeface="Arial"/>
              </a:rPr>
              <a:t>The output gate filter ensures that only the most relevant information is used to understand the next part of the story.</a:t>
            </a:r>
            <a:endParaRPr/>
          </a:p>
          <a:p>
            <a:pPr indent="0" lvl="0" marL="0" rtl="0" algn="l">
              <a:spcBef>
                <a:spcPts val="0"/>
              </a:spcBef>
              <a:spcAft>
                <a:spcPts val="0"/>
              </a:spcAft>
              <a:buNone/>
            </a:pPr>
            <a:r>
              <a:rPr b="1" i="0" lang="en-US">
                <a:solidFill>
                  <a:srgbClr val="111111"/>
                </a:solidFill>
                <a:highlight>
                  <a:srgbClr val="F7F7F7"/>
                </a:highlight>
                <a:latin typeface="Arial"/>
                <a:ea typeface="Arial"/>
                <a:cs typeface="Arial"/>
                <a:sym typeface="Arial"/>
              </a:rPr>
              <a:t>Example</a:t>
            </a:r>
            <a:endParaRPr/>
          </a:p>
          <a:p>
            <a:pPr indent="0" lvl="0" marL="0" rtl="0" algn="l">
              <a:spcBef>
                <a:spcPts val="0"/>
              </a:spcBef>
              <a:spcAft>
                <a:spcPts val="0"/>
              </a:spcAft>
              <a:buNone/>
            </a:pPr>
            <a:r>
              <a:rPr b="0" i="0" lang="en-US">
                <a:solidFill>
                  <a:srgbClr val="111111"/>
                </a:solidFill>
                <a:highlight>
                  <a:srgbClr val="F7F7F7"/>
                </a:highlight>
                <a:latin typeface="Arial"/>
                <a:ea typeface="Arial"/>
                <a:cs typeface="Arial"/>
                <a:sym typeface="Arial"/>
              </a:rPr>
              <a:t>Imagine you are reading a mystery novel. The LSTM cell helps you remember key clues from earlier chapters (cell state), decide which new clues are important to remember (input gate), forget irrelevant details (forget gate), and use the most relevant clues to solve the mystery as you read further (output gate).</a:t>
            </a:r>
            <a:endParaRPr/>
          </a:p>
          <a:p>
            <a:pPr indent="0" lvl="0" marL="0" rtl="0" algn="l">
              <a:spcBef>
                <a:spcPts val="0"/>
              </a:spcBef>
              <a:spcAft>
                <a:spcPts val="0"/>
              </a:spcAft>
              <a:buNone/>
            </a:pPr>
            <a:r>
              <a:rPr b="0" i="0" lang="en-US">
                <a:solidFill>
                  <a:srgbClr val="111111"/>
                </a:solidFill>
                <a:highlight>
                  <a:srgbClr val="F7F7F7"/>
                </a:highlight>
                <a:latin typeface="Arial"/>
                <a:ea typeface="Arial"/>
                <a:cs typeface="Arial"/>
                <a:sym typeface="Arial"/>
              </a:rPr>
              <a:t>By using these gates, the LSTM cell effectively manages long-term dependencies and ensures that important information is retained and used appropriately, making it much better at handling long sequences compared to standard RNN cells.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0" name="Google Shape;13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a:solidFill>
                  <a:srgbClr val="111111"/>
                </a:solidFill>
                <a:highlight>
                  <a:srgbClr val="F7F7F7"/>
                </a:highlight>
                <a:latin typeface="Arial"/>
                <a:ea typeface="Arial"/>
                <a:cs typeface="Arial"/>
                <a:sym typeface="Arial"/>
              </a:rPr>
              <a:t>Intuitive Explanation of a GRU Cell</a:t>
            </a:r>
            <a:endParaRPr/>
          </a:p>
          <a:p>
            <a:pPr indent="0" lvl="0" marL="0" rtl="0" algn="l">
              <a:spcBef>
                <a:spcPts val="0"/>
              </a:spcBef>
              <a:spcAft>
                <a:spcPts val="0"/>
              </a:spcAft>
              <a:buNone/>
            </a:pPr>
            <a:r>
              <a:rPr b="0" i="0" lang="en-US">
                <a:solidFill>
                  <a:srgbClr val="111111"/>
                </a:solidFill>
                <a:highlight>
                  <a:srgbClr val="F7F7F7"/>
                </a:highlight>
                <a:latin typeface="Arial"/>
                <a:ea typeface="Arial"/>
                <a:cs typeface="Arial"/>
                <a:sym typeface="Arial"/>
              </a:rPr>
              <a:t>Imagine you are trying to remember a story, but you want to keep it simple and efficient. You don’t want to remember every single detail, just the important parts that help you understand the story as it unfolds. This is similar to how a Gated Recurrent Unit (GRU) cell works.</a:t>
            </a:r>
            <a:endParaRPr/>
          </a:p>
          <a:p>
            <a:pPr indent="0" lvl="0" marL="0" rtl="0" algn="l">
              <a:spcBef>
                <a:spcPts val="0"/>
              </a:spcBef>
              <a:spcAft>
                <a:spcPts val="0"/>
              </a:spcAft>
              <a:buNone/>
            </a:pPr>
            <a:r>
              <a:rPr b="1" i="0" lang="en-US">
                <a:solidFill>
                  <a:srgbClr val="111111"/>
                </a:solidFill>
                <a:highlight>
                  <a:srgbClr val="F7F7F7"/>
                </a:highlight>
                <a:latin typeface="Arial"/>
                <a:ea typeface="Arial"/>
                <a:cs typeface="Arial"/>
                <a:sym typeface="Arial"/>
              </a:rPr>
              <a:t>Key Components of a GRU Cell</a:t>
            </a:r>
            <a:endParaRPr/>
          </a:p>
          <a:p>
            <a:pPr indent="-76200" lvl="0" marL="0" rtl="0" algn="l">
              <a:spcBef>
                <a:spcPts val="0"/>
              </a:spcBef>
              <a:spcAft>
                <a:spcPts val="0"/>
              </a:spcAft>
              <a:buClr>
                <a:srgbClr val="111111"/>
              </a:buClr>
              <a:buSzPts val="1200"/>
              <a:buFont typeface="Calibri"/>
              <a:buAutoNum type="arabicPeriod"/>
            </a:pPr>
            <a:r>
              <a:rPr b="1" i="0" lang="en-US">
                <a:solidFill>
                  <a:srgbClr val="111111"/>
                </a:solidFill>
                <a:highlight>
                  <a:srgbClr val="F7F7F7"/>
                </a:highlight>
                <a:latin typeface="Arial"/>
                <a:ea typeface="Arial"/>
                <a:cs typeface="Arial"/>
                <a:sym typeface="Arial"/>
              </a:rPr>
              <a:t>Reset Gate</a:t>
            </a:r>
            <a:r>
              <a:rPr b="0" i="0" lang="en-US">
                <a:solidFill>
                  <a:srgbClr val="111111"/>
                </a:solidFill>
                <a:highlight>
                  <a:srgbClr val="F7F7F7"/>
                </a:highlight>
                <a:latin typeface="Arial"/>
                <a:ea typeface="Arial"/>
                <a:cs typeface="Arial"/>
                <a:sym typeface="Arial"/>
              </a:rPr>
              <a:t>:</a:t>
            </a:r>
            <a:endParaRPr/>
          </a:p>
          <a:p>
            <a:pPr indent="-285750" lvl="1" marL="742950" rtl="0" algn="l">
              <a:spcBef>
                <a:spcPts val="0"/>
              </a:spcBef>
              <a:spcAft>
                <a:spcPts val="0"/>
              </a:spcAft>
              <a:buClr>
                <a:srgbClr val="111111"/>
              </a:buClr>
              <a:buSzPts val="1200"/>
              <a:buFont typeface="Calibri"/>
              <a:buAutoNum type="arabicPeriod"/>
            </a:pPr>
            <a:r>
              <a:rPr b="1" i="0" lang="en-US">
                <a:solidFill>
                  <a:srgbClr val="111111"/>
                </a:solidFill>
                <a:highlight>
                  <a:srgbClr val="F7F7F7"/>
                </a:highlight>
                <a:latin typeface="Arial"/>
                <a:ea typeface="Arial"/>
                <a:cs typeface="Arial"/>
                <a:sym typeface="Arial"/>
              </a:rPr>
              <a:t>Analogy</a:t>
            </a:r>
            <a:r>
              <a:rPr b="0" i="0" lang="en-US">
                <a:solidFill>
                  <a:srgbClr val="111111"/>
                </a:solidFill>
                <a:highlight>
                  <a:srgbClr val="F7F7F7"/>
                </a:highlight>
                <a:latin typeface="Arial"/>
                <a:ea typeface="Arial"/>
                <a:cs typeface="Arial"/>
                <a:sym typeface="Arial"/>
              </a:rPr>
              <a:t>: Think of the reset gate as a filter that decides how much of the past information you want to forget.</a:t>
            </a:r>
            <a:endParaRPr/>
          </a:p>
          <a:p>
            <a:pPr indent="-285750" lvl="1" marL="742950" rtl="0" algn="l">
              <a:spcBef>
                <a:spcPts val="0"/>
              </a:spcBef>
              <a:spcAft>
                <a:spcPts val="0"/>
              </a:spcAft>
              <a:buClr>
                <a:srgbClr val="111111"/>
              </a:buClr>
              <a:buSzPts val="1200"/>
              <a:buFont typeface="Calibri"/>
              <a:buAutoNum type="arabicPeriod"/>
            </a:pPr>
            <a:r>
              <a:rPr b="1" i="0" lang="en-US">
                <a:solidFill>
                  <a:srgbClr val="111111"/>
                </a:solidFill>
                <a:highlight>
                  <a:srgbClr val="F7F7F7"/>
                </a:highlight>
                <a:latin typeface="Arial"/>
                <a:ea typeface="Arial"/>
                <a:cs typeface="Arial"/>
                <a:sym typeface="Arial"/>
              </a:rPr>
              <a:t>Function</a:t>
            </a:r>
            <a:r>
              <a:rPr b="0" i="0" lang="en-US">
                <a:solidFill>
                  <a:srgbClr val="111111"/>
                </a:solidFill>
                <a:highlight>
                  <a:srgbClr val="F7F7F7"/>
                </a:highlight>
                <a:latin typeface="Arial"/>
                <a:ea typeface="Arial"/>
                <a:cs typeface="Arial"/>
                <a:sym typeface="Arial"/>
              </a:rPr>
              <a:t>: It controls how much of the previous hidden state (memory) should be ignored when processing new information.</a:t>
            </a:r>
            <a:endParaRPr/>
          </a:p>
          <a:p>
            <a:pPr indent="-76200" lvl="0" marL="0" rtl="0" algn="l">
              <a:spcBef>
                <a:spcPts val="0"/>
              </a:spcBef>
              <a:spcAft>
                <a:spcPts val="0"/>
              </a:spcAft>
              <a:buClr>
                <a:srgbClr val="111111"/>
              </a:buClr>
              <a:buSzPts val="1200"/>
              <a:buFont typeface="Calibri"/>
              <a:buAutoNum type="arabicPeriod"/>
            </a:pPr>
            <a:r>
              <a:rPr b="1" i="0" lang="en-US">
                <a:solidFill>
                  <a:srgbClr val="111111"/>
                </a:solidFill>
                <a:highlight>
                  <a:srgbClr val="F7F7F7"/>
                </a:highlight>
                <a:latin typeface="Arial"/>
                <a:ea typeface="Arial"/>
                <a:cs typeface="Arial"/>
                <a:sym typeface="Arial"/>
              </a:rPr>
              <a:t>Update Gate</a:t>
            </a:r>
            <a:r>
              <a:rPr b="0" i="0" lang="en-US">
                <a:solidFill>
                  <a:srgbClr val="111111"/>
                </a:solidFill>
                <a:highlight>
                  <a:srgbClr val="F7F7F7"/>
                </a:highlight>
                <a:latin typeface="Arial"/>
                <a:ea typeface="Arial"/>
                <a:cs typeface="Arial"/>
                <a:sym typeface="Arial"/>
              </a:rPr>
              <a:t>:</a:t>
            </a:r>
            <a:endParaRPr/>
          </a:p>
          <a:p>
            <a:pPr indent="-285750" lvl="1" marL="742950" rtl="0" algn="l">
              <a:spcBef>
                <a:spcPts val="0"/>
              </a:spcBef>
              <a:spcAft>
                <a:spcPts val="0"/>
              </a:spcAft>
              <a:buClr>
                <a:srgbClr val="111111"/>
              </a:buClr>
              <a:buSzPts val="1200"/>
              <a:buFont typeface="Calibri"/>
              <a:buAutoNum type="arabicPeriod"/>
            </a:pPr>
            <a:r>
              <a:rPr b="1" i="0" lang="en-US">
                <a:solidFill>
                  <a:srgbClr val="111111"/>
                </a:solidFill>
                <a:highlight>
                  <a:srgbClr val="F7F7F7"/>
                </a:highlight>
                <a:latin typeface="Arial"/>
                <a:ea typeface="Arial"/>
                <a:cs typeface="Arial"/>
                <a:sym typeface="Arial"/>
              </a:rPr>
              <a:t>Analogy</a:t>
            </a:r>
            <a:r>
              <a:rPr b="0" i="0" lang="en-US">
                <a:solidFill>
                  <a:srgbClr val="111111"/>
                </a:solidFill>
                <a:highlight>
                  <a:srgbClr val="F7F7F7"/>
                </a:highlight>
                <a:latin typeface="Arial"/>
                <a:ea typeface="Arial"/>
                <a:cs typeface="Arial"/>
                <a:sym typeface="Arial"/>
              </a:rPr>
              <a:t>: Imagine the update gate as a filter that decides how much of the new information should be added to your memory.</a:t>
            </a:r>
            <a:endParaRPr/>
          </a:p>
          <a:p>
            <a:pPr indent="-285750" lvl="1" marL="742950" rtl="0" algn="l">
              <a:spcBef>
                <a:spcPts val="0"/>
              </a:spcBef>
              <a:spcAft>
                <a:spcPts val="0"/>
              </a:spcAft>
              <a:buClr>
                <a:srgbClr val="111111"/>
              </a:buClr>
              <a:buSzPts val="1200"/>
              <a:buFont typeface="Calibri"/>
              <a:buAutoNum type="arabicPeriod"/>
            </a:pPr>
            <a:r>
              <a:rPr b="1" i="0" lang="en-US">
                <a:solidFill>
                  <a:srgbClr val="111111"/>
                </a:solidFill>
                <a:highlight>
                  <a:srgbClr val="F7F7F7"/>
                </a:highlight>
                <a:latin typeface="Arial"/>
                <a:ea typeface="Arial"/>
                <a:cs typeface="Arial"/>
                <a:sym typeface="Arial"/>
              </a:rPr>
              <a:t>Function</a:t>
            </a:r>
            <a:r>
              <a:rPr b="0" i="0" lang="en-US">
                <a:solidFill>
                  <a:srgbClr val="111111"/>
                </a:solidFill>
                <a:highlight>
                  <a:srgbClr val="F7F7F7"/>
                </a:highlight>
                <a:latin typeface="Arial"/>
                <a:ea typeface="Arial"/>
                <a:cs typeface="Arial"/>
                <a:sym typeface="Arial"/>
              </a:rPr>
              <a:t>: It determines how much of the new information should replace the old information in the hidden state.</a:t>
            </a:r>
            <a:endParaRPr/>
          </a:p>
          <a:p>
            <a:pPr indent="0" lvl="0" marL="0" rtl="0" algn="l">
              <a:spcBef>
                <a:spcPts val="0"/>
              </a:spcBef>
              <a:spcAft>
                <a:spcPts val="0"/>
              </a:spcAft>
              <a:buNone/>
            </a:pPr>
            <a:r>
              <a:rPr b="1" i="0" lang="en-US">
                <a:solidFill>
                  <a:srgbClr val="111111"/>
                </a:solidFill>
                <a:highlight>
                  <a:srgbClr val="F7F7F7"/>
                </a:highlight>
                <a:latin typeface="Arial"/>
                <a:ea typeface="Arial"/>
                <a:cs typeface="Arial"/>
                <a:sym typeface="Arial"/>
              </a:rPr>
              <a:t>How It Works Together</a:t>
            </a:r>
            <a:endParaRPr/>
          </a:p>
          <a:p>
            <a:pPr indent="-76200" lvl="0" marL="0" rtl="0" algn="l">
              <a:spcBef>
                <a:spcPts val="0"/>
              </a:spcBef>
              <a:spcAft>
                <a:spcPts val="0"/>
              </a:spcAft>
              <a:buClr>
                <a:srgbClr val="111111"/>
              </a:buClr>
              <a:buSzPts val="1200"/>
              <a:buFont typeface="Calibri"/>
              <a:buAutoNum type="arabicPeriod"/>
            </a:pPr>
            <a:r>
              <a:rPr b="1" i="0" lang="en-US">
                <a:solidFill>
                  <a:srgbClr val="111111"/>
                </a:solidFill>
                <a:highlight>
                  <a:srgbClr val="F7F7F7"/>
                </a:highlight>
                <a:latin typeface="Arial"/>
                <a:ea typeface="Arial"/>
                <a:cs typeface="Arial"/>
                <a:sym typeface="Arial"/>
              </a:rPr>
              <a:t>Filtering Old Information</a:t>
            </a:r>
            <a:r>
              <a:rPr b="0" i="0" lang="en-US">
                <a:solidFill>
                  <a:srgbClr val="111111"/>
                </a:solidFill>
                <a:highlight>
                  <a:srgbClr val="F7F7F7"/>
                </a:highlight>
                <a:latin typeface="Arial"/>
                <a:ea typeface="Arial"/>
                <a:cs typeface="Arial"/>
                <a:sym typeface="Arial"/>
              </a:rPr>
              <a:t>:</a:t>
            </a:r>
            <a:endParaRPr/>
          </a:p>
          <a:p>
            <a:pPr indent="-285750" lvl="1" marL="742950" rtl="0" algn="l">
              <a:spcBef>
                <a:spcPts val="0"/>
              </a:spcBef>
              <a:spcAft>
                <a:spcPts val="0"/>
              </a:spcAft>
              <a:buClr>
                <a:srgbClr val="111111"/>
              </a:buClr>
              <a:buSzPts val="1200"/>
              <a:buFont typeface="Calibri"/>
              <a:buAutoNum type="arabicPeriod" startAt="2"/>
            </a:pPr>
            <a:r>
              <a:rPr b="0" i="0" lang="en-US">
                <a:solidFill>
                  <a:srgbClr val="111111"/>
                </a:solidFill>
                <a:highlight>
                  <a:srgbClr val="F7F7F7"/>
                </a:highlight>
                <a:latin typeface="Arial"/>
                <a:ea typeface="Arial"/>
                <a:cs typeface="Arial"/>
                <a:sym typeface="Arial"/>
              </a:rPr>
              <a:t>The reset gate helps you decide which parts of the past information are no longer relevant and can be forgotten. This keeps your memory efficient and focused on the most important details.</a:t>
            </a:r>
            <a:endParaRPr/>
          </a:p>
          <a:p>
            <a:pPr indent="-76200" lvl="0" marL="0" rtl="0" algn="l">
              <a:spcBef>
                <a:spcPts val="0"/>
              </a:spcBef>
              <a:spcAft>
                <a:spcPts val="0"/>
              </a:spcAft>
              <a:buClr>
                <a:srgbClr val="111111"/>
              </a:buClr>
              <a:buSzPts val="1200"/>
              <a:buFont typeface="Calibri"/>
              <a:buAutoNum type="arabicPeriod"/>
            </a:pPr>
            <a:r>
              <a:rPr b="1" i="0" lang="en-US">
                <a:solidFill>
                  <a:srgbClr val="111111"/>
                </a:solidFill>
                <a:highlight>
                  <a:srgbClr val="F7F7F7"/>
                </a:highlight>
                <a:latin typeface="Arial"/>
                <a:ea typeface="Arial"/>
                <a:cs typeface="Arial"/>
                <a:sym typeface="Arial"/>
              </a:rPr>
              <a:t>Updating Memory</a:t>
            </a:r>
            <a:r>
              <a:rPr b="0" i="0" lang="en-US">
                <a:solidFill>
                  <a:srgbClr val="111111"/>
                </a:solidFill>
                <a:highlight>
                  <a:srgbClr val="F7F7F7"/>
                </a:highlight>
                <a:latin typeface="Arial"/>
                <a:ea typeface="Arial"/>
                <a:cs typeface="Arial"/>
                <a:sym typeface="Arial"/>
              </a:rPr>
              <a:t>:</a:t>
            </a:r>
            <a:endParaRPr/>
          </a:p>
          <a:p>
            <a:pPr indent="-285750" lvl="1" marL="742950" rtl="0" algn="l">
              <a:spcBef>
                <a:spcPts val="0"/>
              </a:spcBef>
              <a:spcAft>
                <a:spcPts val="0"/>
              </a:spcAft>
              <a:buClr>
                <a:srgbClr val="111111"/>
              </a:buClr>
              <a:buSzPts val="1200"/>
              <a:buFont typeface="Calibri"/>
              <a:buAutoNum type="arabicPeriod" startAt="2"/>
            </a:pPr>
            <a:r>
              <a:rPr b="0" i="0" lang="en-US">
                <a:solidFill>
                  <a:srgbClr val="111111"/>
                </a:solidFill>
                <a:highlight>
                  <a:srgbClr val="F7F7F7"/>
                </a:highlight>
                <a:latin typeface="Arial"/>
                <a:ea typeface="Arial"/>
                <a:cs typeface="Arial"/>
                <a:sym typeface="Arial"/>
              </a:rPr>
              <a:t>The update gate allows you to add new, relevant information to your memory while retaining important past information. This ensures that your memory is always up-to-date with the most crucial details.</a:t>
            </a:r>
            <a:endParaRPr/>
          </a:p>
          <a:p>
            <a:pPr indent="0" lvl="0" marL="0" rtl="0" algn="l">
              <a:spcBef>
                <a:spcPts val="0"/>
              </a:spcBef>
              <a:spcAft>
                <a:spcPts val="0"/>
              </a:spcAft>
              <a:buNone/>
            </a:pPr>
            <a:r>
              <a:rPr b="1" i="0" lang="en-US">
                <a:solidFill>
                  <a:srgbClr val="111111"/>
                </a:solidFill>
                <a:highlight>
                  <a:srgbClr val="F7F7F7"/>
                </a:highlight>
                <a:latin typeface="Arial"/>
                <a:ea typeface="Arial"/>
                <a:cs typeface="Arial"/>
                <a:sym typeface="Arial"/>
              </a:rPr>
              <a:t>Example</a:t>
            </a:r>
            <a:endParaRPr/>
          </a:p>
          <a:p>
            <a:pPr indent="0" lvl="0" marL="0" rtl="0" algn="l">
              <a:spcBef>
                <a:spcPts val="0"/>
              </a:spcBef>
              <a:spcAft>
                <a:spcPts val="0"/>
              </a:spcAft>
              <a:buNone/>
            </a:pPr>
            <a:r>
              <a:rPr b="0" i="0" lang="en-US">
                <a:solidFill>
                  <a:srgbClr val="111111"/>
                </a:solidFill>
                <a:highlight>
                  <a:srgbClr val="F7F7F7"/>
                </a:highlight>
                <a:latin typeface="Arial"/>
                <a:ea typeface="Arial"/>
                <a:cs typeface="Arial"/>
                <a:sym typeface="Arial"/>
              </a:rPr>
              <a:t>Imagine you are reading a mystery novel. The GRU cell helps you remember key clues from earlier chapters (reset gate), decide which new clues are important to remember (update gate), and use the most relevant clues to solve the mystery as you read further.</a:t>
            </a:r>
            <a:endParaRPr/>
          </a:p>
          <a:p>
            <a:pPr indent="-76200" lvl="0" marL="0" rtl="0" algn="l">
              <a:spcBef>
                <a:spcPts val="0"/>
              </a:spcBef>
              <a:spcAft>
                <a:spcPts val="0"/>
              </a:spcAft>
              <a:buClr>
                <a:srgbClr val="111111"/>
              </a:buClr>
              <a:buSzPts val="1200"/>
              <a:buFont typeface="Arial"/>
              <a:buChar char="•"/>
            </a:pPr>
            <a:r>
              <a:rPr b="1" i="0" lang="en-US">
                <a:solidFill>
                  <a:srgbClr val="111111"/>
                </a:solidFill>
                <a:highlight>
                  <a:srgbClr val="F7F7F7"/>
                </a:highlight>
                <a:latin typeface="Arial"/>
                <a:ea typeface="Arial"/>
                <a:cs typeface="Arial"/>
                <a:sym typeface="Arial"/>
              </a:rPr>
              <a:t>Reset Gate</a:t>
            </a:r>
            <a:r>
              <a:rPr b="0" i="0" lang="en-US">
                <a:solidFill>
                  <a:srgbClr val="111111"/>
                </a:solidFill>
                <a:highlight>
                  <a:srgbClr val="F7F7F7"/>
                </a:highlight>
                <a:latin typeface="Arial"/>
                <a:ea typeface="Arial"/>
                <a:cs typeface="Arial"/>
                <a:sym typeface="Arial"/>
              </a:rPr>
              <a:t>: If a clue from Chapter 1 is no longer relevant, the reset gate helps you forget it.</a:t>
            </a:r>
            <a:endParaRPr/>
          </a:p>
          <a:p>
            <a:pPr indent="-76200" lvl="0" marL="0" rtl="0" algn="l">
              <a:spcBef>
                <a:spcPts val="0"/>
              </a:spcBef>
              <a:spcAft>
                <a:spcPts val="0"/>
              </a:spcAft>
              <a:buClr>
                <a:srgbClr val="111111"/>
              </a:buClr>
              <a:buSzPts val="1200"/>
              <a:buFont typeface="Arial"/>
              <a:buChar char="•"/>
            </a:pPr>
            <a:r>
              <a:rPr b="1" i="0" lang="en-US">
                <a:solidFill>
                  <a:srgbClr val="111111"/>
                </a:solidFill>
                <a:highlight>
                  <a:srgbClr val="F7F7F7"/>
                </a:highlight>
                <a:latin typeface="Arial"/>
                <a:ea typeface="Arial"/>
                <a:cs typeface="Arial"/>
                <a:sym typeface="Arial"/>
              </a:rPr>
              <a:t>Update Gate</a:t>
            </a:r>
            <a:r>
              <a:rPr b="0" i="0" lang="en-US">
                <a:solidFill>
                  <a:srgbClr val="111111"/>
                </a:solidFill>
                <a:highlight>
                  <a:srgbClr val="F7F7F7"/>
                </a:highlight>
                <a:latin typeface="Arial"/>
                <a:ea typeface="Arial"/>
                <a:cs typeface="Arial"/>
                <a:sym typeface="Arial"/>
              </a:rPr>
              <a:t>: When you find a new clue in Chapter 5, the update gate helps you add this new clue to your memory, ensuring you don’t forget the important clues from earlier chapters.</a:t>
            </a:r>
            <a:endParaRPr/>
          </a:p>
          <a:p>
            <a:pPr indent="0" lvl="0" marL="0" rtl="0" algn="l">
              <a:spcBef>
                <a:spcPts val="0"/>
              </a:spcBef>
              <a:spcAft>
                <a:spcPts val="0"/>
              </a:spcAft>
              <a:buNone/>
            </a:pPr>
            <a:r>
              <a:rPr b="0" i="0" lang="en-US">
                <a:solidFill>
                  <a:srgbClr val="111111"/>
                </a:solidFill>
                <a:highlight>
                  <a:srgbClr val="F7F7F7"/>
                </a:highlight>
                <a:latin typeface="Arial"/>
                <a:ea typeface="Arial"/>
                <a:cs typeface="Arial"/>
                <a:sym typeface="Arial"/>
              </a:rPr>
              <a:t>By using these gates, the GRU cell effectively manages the flow of information, making it simpler and faster than other models like LSTM, while still being able to handle long-term dependencies.</a:t>
            </a:r>
            <a:endParaRPr/>
          </a:p>
          <a:p>
            <a:pPr indent="0" lvl="0" marL="0" rtl="0" algn="l">
              <a:spcBef>
                <a:spcPts val="0"/>
              </a:spcBef>
              <a:spcAft>
                <a:spcPts val="0"/>
              </a:spcAft>
              <a:buNone/>
            </a:pPr>
            <a:r>
              <a:t/>
            </a:r>
            <a:endParaRPr/>
          </a:p>
        </p:txBody>
      </p:sp>
      <p:sp>
        <p:nvSpPr>
          <p:cNvPr id="140" name="Google Shape;14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sp>
        <p:nvSpPr>
          <p:cNvPr id="19" name="Google Shape;19;p8"/>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8"/>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8"/>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8"/>
          <p:cNvSpPr txBox="1"/>
          <p:nvPr>
            <p:ph idx="1" type="subTitle"/>
          </p:nvPr>
        </p:nvSpPr>
        <p:spPr>
          <a:xfrm>
            <a:off x="1100051" y="4455621"/>
            <a:ext cx="100584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23" name="Google Shape;23;p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6" name="Google Shape;26;p8"/>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9"/>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0" name="Google Shape;30;p9"/>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9"/>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33" name="Shape 33"/>
        <p:cNvGrpSpPr/>
        <p:nvPr/>
      </p:nvGrpSpPr>
      <p:grpSpPr>
        <a:xfrm>
          <a:off x="0" y="0"/>
          <a:ext cx="0" cy="0"/>
          <a:chOff x="0" y="0"/>
          <a:chExt cx="0" cy="0"/>
        </a:xfrm>
      </p:grpSpPr>
      <p:sp>
        <p:nvSpPr>
          <p:cNvPr id="34" name="Google Shape;34;p10"/>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10"/>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0"/>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10"/>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38" name="Google Shape;38;p1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41" name="Google Shape;41;p10"/>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1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11"/>
          <p:cNvSpPr txBox="1"/>
          <p:nvPr>
            <p:ph idx="1" type="body"/>
          </p:nvPr>
        </p:nvSpPr>
        <p:spPr>
          <a:xfrm>
            <a:off x="1097278" y="1845734"/>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5" name="Google Shape;45;p11"/>
          <p:cNvSpPr txBox="1"/>
          <p:nvPr>
            <p:ph idx="2" type="body"/>
          </p:nvPr>
        </p:nvSpPr>
        <p:spPr>
          <a:xfrm>
            <a:off x="6217920" y="1845735"/>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6" name="Google Shape;46;p1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1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2"/>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2" name="Google Shape;52;p12"/>
          <p:cNvSpPr txBox="1"/>
          <p:nvPr>
            <p:ph idx="2" type="body"/>
          </p:nvPr>
        </p:nvSpPr>
        <p:spPr>
          <a:xfrm>
            <a:off x="109728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3" name="Google Shape;53;p12"/>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4" name="Google Shape;54;p12"/>
          <p:cNvSpPr txBox="1"/>
          <p:nvPr>
            <p:ph idx="4" type="body"/>
          </p:nvPr>
        </p:nvSpPr>
        <p:spPr>
          <a:xfrm>
            <a:off x="621792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5" name="Google Shape;55;p1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p1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3"/>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63" name="Shape 63"/>
        <p:cNvGrpSpPr/>
        <p:nvPr/>
      </p:nvGrpSpPr>
      <p:grpSpPr>
        <a:xfrm>
          <a:off x="0" y="0"/>
          <a:ext cx="0" cy="0"/>
          <a:chOff x="0" y="0"/>
          <a:chExt cx="0" cy="0"/>
        </a:xfrm>
      </p:grpSpPr>
      <p:sp>
        <p:nvSpPr>
          <p:cNvPr id="64" name="Google Shape;64;p14"/>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4"/>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9" name="Shape 69"/>
        <p:cNvGrpSpPr/>
        <p:nvPr/>
      </p:nvGrpSpPr>
      <p:grpSpPr>
        <a:xfrm>
          <a:off x="0" y="0"/>
          <a:ext cx="0" cy="0"/>
          <a:chOff x="0" y="0"/>
          <a:chExt cx="0" cy="0"/>
        </a:xfrm>
      </p:grpSpPr>
      <p:sp>
        <p:nvSpPr>
          <p:cNvPr id="70" name="Google Shape;70;p15"/>
          <p:cNvSpPr/>
          <p:nvPr/>
        </p:nvSpPr>
        <p:spPr>
          <a:xfrm>
            <a:off x="16" y="0"/>
            <a:ext cx="4050791"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5"/>
          <p:cNvSpPr/>
          <p:nvPr/>
        </p:nvSpPr>
        <p:spPr>
          <a:xfrm>
            <a:off x="4040071"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5"/>
          <p:cNvSpPr txBox="1"/>
          <p:nvPr>
            <p:ph type="title"/>
          </p:nvPr>
        </p:nvSpPr>
        <p:spPr>
          <a:xfrm>
            <a:off x="457200" y="594359"/>
            <a:ext cx="32004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5"/>
          <p:cNvSpPr txBox="1"/>
          <p:nvPr>
            <p:ph idx="1" type="body"/>
          </p:nvPr>
        </p:nvSpPr>
        <p:spPr>
          <a:xfrm>
            <a:off x="4800600" y="731520"/>
            <a:ext cx="649224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4" name="Google Shape;74;p15"/>
          <p:cNvSpPr txBox="1"/>
          <p:nvPr>
            <p:ph idx="2" type="body"/>
          </p:nvPr>
        </p:nvSpPr>
        <p:spPr>
          <a:xfrm>
            <a:off x="457200" y="2926080"/>
            <a:ext cx="32004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5" name="Google Shape;75;p15"/>
          <p:cNvSpPr txBox="1"/>
          <p:nvPr>
            <p:ph idx="10" type="dt"/>
          </p:nvPr>
        </p:nvSpPr>
        <p:spPr>
          <a:xfrm>
            <a:off x="465512" y="6459785"/>
            <a:ext cx="26185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5"/>
          <p:cNvSpPr txBox="1"/>
          <p:nvPr>
            <p:ph idx="11" type="ftr"/>
          </p:nvPr>
        </p:nvSpPr>
        <p:spPr>
          <a:xfrm>
            <a:off x="4800600" y="6459785"/>
            <a:ext cx="4648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050" u="none" cap="none" strike="noStrike">
                <a:solidFill>
                  <a:schemeClr val="dk2"/>
                </a:solidFill>
                <a:latin typeface="Calibri"/>
                <a:ea typeface="Calibri"/>
                <a:cs typeface="Calibri"/>
                <a:sym typeface="Calibri"/>
              </a:defRPr>
            </a:lvl1pPr>
            <a:lvl2pPr indent="0" lvl="1" marL="0" algn="r">
              <a:spcBef>
                <a:spcPts val="0"/>
              </a:spcBef>
              <a:buNone/>
              <a:defRPr b="0" i="0" sz="1050" u="none" cap="none" strike="noStrike">
                <a:solidFill>
                  <a:schemeClr val="dk2"/>
                </a:solidFill>
                <a:latin typeface="Calibri"/>
                <a:ea typeface="Calibri"/>
                <a:cs typeface="Calibri"/>
                <a:sym typeface="Calibri"/>
              </a:defRPr>
            </a:lvl2pPr>
            <a:lvl3pPr indent="0" lvl="2" marL="0" algn="r">
              <a:spcBef>
                <a:spcPts val="0"/>
              </a:spcBef>
              <a:buNone/>
              <a:defRPr b="0" i="0" sz="1050" u="none" cap="none" strike="noStrike">
                <a:solidFill>
                  <a:schemeClr val="dk2"/>
                </a:solidFill>
                <a:latin typeface="Calibri"/>
                <a:ea typeface="Calibri"/>
                <a:cs typeface="Calibri"/>
                <a:sym typeface="Calibri"/>
              </a:defRPr>
            </a:lvl3pPr>
            <a:lvl4pPr indent="0" lvl="3" marL="0" algn="r">
              <a:spcBef>
                <a:spcPts val="0"/>
              </a:spcBef>
              <a:buNone/>
              <a:defRPr b="0" i="0" sz="1050" u="none" cap="none" strike="noStrike">
                <a:solidFill>
                  <a:schemeClr val="dk2"/>
                </a:solidFill>
                <a:latin typeface="Calibri"/>
                <a:ea typeface="Calibri"/>
                <a:cs typeface="Calibri"/>
                <a:sym typeface="Calibri"/>
              </a:defRPr>
            </a:lvl4pPr>
            <a:lvl5pPr indent="0" lvl="4" marL="0" algn="r">
              <a:spcBef>
                <a:spcPts val="0"/>
              </a:spcBef>
              <a:buNone/>
              <a:defRPr b="0" i="0" sz="1050" u="none" cap="none" strike="noStrike">
                <a:solidFill>
                  <a:schemeClr val="dk2"/>
                </a:solidFill>
                <a:latin typeface="Calibri"/>
                <a:ea typeface="Calibri"/>
                <a:cs typeface="Calibri"/>
                <a:sym typeface="Calibri"/>
              </a:defRPr>
            </a:lvl5pPr>
            <a:lvl6pPr indent="0" lvl="5" marL="0" algn="r">
              <a:spcBef>
                <a:spcPts val="0"/>
              </a:spcBef>
              <a:buNone/>
              <a:defRPr b="0" i="0" sz="1050" u="none" cap="none" strike="noStrike">
                <a:solidFill>
                  <a:schemeClr val="dk2"/>
                </a:solidFill>
                <a:latin typeface="Calibri"/>
                <a:ea typeface="Calibri"/>
                <a:cs typeface="Calibri"/>
                <a:sym typeface="Calibri"/>
              </a:defRPr>
            </a:lvl6pPr>
            <a:lvl7pPr indent="0" lvl="6" marL="0" algn="r">
              <a:spcBef>
                <a:spcPts val="0"/>
              </a:spcBef>
              <a:buNone/>
              <a:defRPr b="0" i="0" sz="1050" u="none" cap="none" strike="noStrike">
                <a:solidFill>
                  <a:schemeClr val="dk2"/>
                </a:solidFill>
                <a:latin typeface="Calibri"/>
                <a:ea typeface="Calibri"/>
                <a:cs typeface="Calibri"/>
                <a:sym typeface="Calibri"/>
              </a:defRPr>
            </a:lvl7pPr>
            <a:lvl8pPr indent="0" lvl="7" marL="0" algn="r">
              <a:spcBef>
                <a:spcPts val="0"/>
              </a:spcBef>
              <a:buNone/>
              <a:defRPr b="0" i="0" sz="1050" u="none" cap="none" strike="noStrike">
                <a:solidFill>
                  <a:schemeClr val="dk2"/>
                </a:solidFill>
                <a:latin typeface="Calibri"/>
                <a:ea typeface="Calibri"/>
                <a:cs typeface="Calibri"/>
                <a:sym typeface="Calibri"/>
              </a:defRPr>
            </a:lvl8pPr>
            <a:lvl9pPr indent="0" lvl="8" marL="0" algn="r">
              <a:spcBef>
                <a:spcPts val="0"/>
              </a:spcBef>
              <a:buNone/>
              <a:defRPr b="0" i="0" sz="1050" u="none" cap="none" strike="noStrike">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8" name="Shape 78"/>
        <p:cNvGrpSpPr/>
        <p:nvPr/>
      </p:nvGrpSpPr>
      <p:grpSpPr>
        <a:xfrm>
          <a:off x="0" y="0"/>
          <a:ext cx="0" cy="0"/>
          <a:chOff x="0" y="0"/>
          <a:chExt cx="0" cy="0"/>
        </a:xfrm>
      </p:grpSpPr>
      <p:sp>
        <p:nvSpPr>
          <p:cNvPr id="79" name="Google Shape;79;p16"/>
          <p:cNvSpPr/>
          <p:nvPr/>
        </p:nvSpPr>
        <p:spPr>
          <a:xfrm>
            <a:off x="0" y="4953000"/>
            <a:ext cx="12188825"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6"/>
          <p:cNvSpPr/>
          <p:nvPr/>
        </p:nvSpPr>
        <p:spPr>
          <a:xfrm>
            <a:off x="15" y="491507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6"/>
          <p:cNvSpPr txBox="1"/>
          <p:nvPr>
            <p:ph type="title"/>
          </p:nvPr>
        </p:nvSpPr>
        <p:spPr>
          <a:xfrm>
            <a:off x="1097280" y="5074920"/>
            <a:ext cx="10113645"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6"/>
          <p:cNvSpPr/>
          <p:nvPr>
            <p:ph idx="2" type="pic"/>
          </p:nvPr>
        </p:nvSpPr>
        <p:spPr>
          <a:xfrm>
            <a:off x="15" y="0"/>
            <a:ext cx="12191985" cy="4915076"/>
          </a:xfrm>
          <a:prstGeom prst="rect">
            <a:avLst/>
          </a:prstGeom>
          <a:solidFill>
            <a:srgbClr val="D7D0C0"/>
          </a:solidFill>
          <a:ln>
            <a:noFill/>
          </a:ln>
        </p:spPr>
      </p:sp>
      <p:sp>
        <p:nvSpPr>
          <p:cNvPr id="83" name="Google Shape;83;p16"/>
          <p:cNvSpPr txBox="1"/>
          <p:nvPr>
            <p:ph idx="1" type="body"/>
          </p:nvPr>
        </p:nvSpPr>
        <p:spPr>
          <a:xfrm>
            <a:off x="1097280" y="5907024"/>
            <a:ext cx="10113264"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4" name="Google Shape;84;p1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7" name="Shape 87"/>
        <p:cNvGrpSpPr/>
        <p:nvPr/>
      </p:nvGrpSpPr>
      <p:grpSpPr>
        <a:xfrm>
          <a:off x="0" y="0"/>
          <a:ext cx="0" cy="0"/>
          <a:chOff x="0" y="0"/>
          <a:chExt cx="0" cy="0"/>
        </a:xfrm>
      </p:grpSpPr>
      <p:sp>
        <p:nvSpPr>
          <p:cNvPr id="88" name="Google Shape;88;p1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17"/>
          <p:cNvSpPr txBox="1"/>
          <p:nvPr>
            <p:ph idx="1" type="body"/>
          </p:nvPr>
        </p:nvSpPr>
        <p:spPr>
          <a:xfrm rot="5400000">
            <a:off x="4114800" y="-1171786"/>
            <a:ext cx="4023360" cy="100584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0" name="Google Shape;90;p1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93" name="Shape 93"/>
        <p:cNvGrpSpPr/>
        <p:nvPr/>
      </p:nvGrpSpPr>
      <p:grpSpPr>
        <a:xfrm>
          <a:off x="0" y="0"/>
          <a:ext cx="0" cy="0"/>
          <a:chOff x="0" y="0"/>
          <a:chExt cx="0" cy="0"/>
        </a:xfrm>
      </p:grpSpPr>
      <p:sp>
        <p:nvSpPr>
          <p:cNvPr id="94" name="Google Shape;94;p18"/>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8"/>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8"/>
          <p:cNvSpPr txBox="1"/>
          <p:nvPr>
            <p:ph type="title"/>
          </p:nvPr>
        </p:nvSpPr>
        <p:spPr>
          <a:xfrm rot="5400000">
            <a:off x="7159401" y="1977801"/>
            <a:ext cx="5759898" cy="26289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8"/>
          <p:cNvSpPr txBox="1"/>
          <p:nvPr>
            <p:ph idx="1" type="body"/>
          </p:nvPr>
        </p:nvSpPr>
        <p:spPr>
          <a:xfrm rot="5400000">
            <a:off x="1825401" y="-574899"/>
            <a:ext cx="5759898" cy="77343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8" name="Google Shape;98;p1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7"/>
          <p:cNvSpPr/>
          <p:nvPr/>
        </p:nvSpPr>
        <p:spPr>
          <a:xfrm>
            <a:off x="1" y="6400800"/>
            <a:ext cx="12192000"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7"/>
          <p:cNvSpPr/>
          <p:nvPr/>
        </p:nvSpPr>
        <p:spPr>
          <a:xfrm>
            <a:off x="15" y="6334316"/>
            <a:ext cx="12191985" cy="66484"/>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7"/>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4" name="Google Shape;14;p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rgbClr val="FFFFFF"/>
                </a:solidFill>
                <a:latin typeface="Calibri"/>
                <a:ea typeface="Calibri"/>
                <a:cs typeface="Calibri"/>
                <a:sym typeface="Calibri"/>
              </a:defRPr>
            </a:lvl1pPr>
            <a:lvl2pPr indent="0" lvl="1" marL="0" marR="0" rtl="0" algn="r">
              <a:spcBef>
                <a:spcPts val="0"/>
              </a:spcBef>
              <a:buNone/>
              <a:defRPr b="0" i="0" sz="1050" u="none" cap="none" strike="noStrike">
                <a:solidFill>
                  <a:srgbClr val="FFFFFF"/>
                </a:solidFill>
                <a:latin typeface="Calibri"/>
                <a:ea typeface="Calibri"/>
                <a:cs typeface="Calibri"/>
                <a:sym typeface="Calibri"/>
              </a:defRPr>
            </a:lvl2pPr>
            <a:lvl3pPr indent="0" lvl="2" marL="0" marR="0" rtl="0" algn="r">
              <a:spcBef>
                <a:spcPts val="0"/>
              </a:spcBef>
              <a:buNone/>
              <a:defRPr b="0" i="0" sz="1050" u="none" cap="none" strike="noStrike">
                <a:solidFill>
                  <a:srgbClr val="FFFFFF"/>
                </a:solidFill>
                <a:latin typeface="Calibri"/>
                <a:ea typeface="Calibri"/>
                <a:cs typeface="Calibri"/>
                <a:sym typeface="Calibri"/>
              </a:defRPr>
            </a:lvl3pPr>
            <a:lvl4pPr indent="0" lvl="3" marL="0" marR="0" rtl="0" algn="r">
              <a:spcBef>
                <a:spcPts val="0"/>
              </a:spcBef>
              <a:buNone/>
              <a:defRPr b="0" i="0" sz="1050" u="none" cap="none" strike="noStrike">
                <a:solidFill>
                  <a:srgbClr val="FFFFFF"/>
                </a:solidFill>
                <a:latin typeface="Calibri"/>
                <a:ea typeface="Calibri"/>
                <a:cs typeface="Calibri"/>
                <a:sym typeface="Calibri"/>
              </a:defRPr>
            </a:lvl4pPr>
            <a:lvl5pPr indent="0" lvl="4" marL="0" marR="0" rtl="0" algn="r">
              <a:spcBef>
                <a:spcPts val="0"/>
              </a:spcBef>
              <a:buNone/>
              <a:defRPr b="0" i="0" sz="1050" u="none" cap="none" strike="noStrike">
                <a:solidFill>
                  <a:srgbClr val="FFFFFF"/>
                </a:solidFill>
                <a:latin typeface="Calibri"/>
                <a:ea typeface="Calibri"/>
                <a:cs typeface="Calibri"/>
                <a:sym typeface="Calibri"/>
              </a:defRPr>
            </a:lvl5pPr>
            <a:lvl6pPr indent="0" lvl="5" marL="0" marR="0" rtl="0" algn="r">
              <a:spcBef>
                <a:spcPts val="0"/>
              </a:spcBef>
              <a:buNone/>
              <a:defRPr b="0" i="0" sz="1050" u="none" cap="none" strike="noStrike">
                <a:solidFill>
                  <a:srgbClr val="FFFFFF"/>
                </a:solidFill>
                <a:latin typeface="Calibri"/>
                <a:ea typeface="Calibri"/>
                <a:cs typeface="Calibri"/>
                <a:sym typeface="Calibri"/>
              </a:defRPr>
            </a:lvl6pPr>
            <a:lvl7pPr indent="0" lvl="6" marL="0" marR="0" rtl="0" algn="r">
              <a:spcBef>
                <a:spcPts val="0"/>
              </a:spcBef>
              <a:buNone/>
              <a:defRPr b="0" i="0" sz="1050" u="none" cap="none" strike="noStrike">
                <a:solidFill>
                  <a:srgbClr val="FFFFFF"/>
                </a:solidFill>
                <a:latin typeface="Calibri"/>
                <a:ea typeface="Calibri"/>
                <a:cs typeface="Calibri"/>
                <a:sym typeface="Calibri"/>
              </a:defRPr>
            </a:lvl7pPr>
            <a:lvl8pPr indent="0" lvl="7" marL="0" marR="0" rtl="0" algn="r">
              <a:spcBef>
                <a:spcPts val="0"/>
              </a:spcBef>
              <a:buNone/>
              <a:defRPr b="0" i="0" sz="1050" u="none" cap="none" strike="noStrike">
                <a:solidFill>
                  <a:srgbClr val="FFFFFF"/>
                </a:solidFill>
                <a:latin typeface="Calibri"/>
                <a:ea typeface="Calibri"/>
                <a:cs typeface="Calibri"/>
                <a:sym typeface="Calibri"/>
              </a:defRPr>
            </a:lvl8pPr>
            <a:lvl9pPr indent="0" lvl="8" marL="0" marR="0" rtl="0" algn="r">
              <a:spcBef>
                <a:spcPts val="0"/>
              </a:spcBef>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7" name="Google Shape;17;p7"/>
          <p:cNvCxnSpPr/>
          <p:nvPr/>
        </p:nvCxnSpPr>
        <p:spPr>
          <a:xfrm>
            <a:off x="1193532" y="1737845"/>
            <a:ext cx="996696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262626"/>
              </a:buClr>
              <a:buSzPts val="6000"/>
              <a:buFont typeface="Calibri"/>
              <a:buNone/>
            </a:pPr>
            <a:r>
              <a:rPr lang="en-US" sz="6000"/>
              <a:t>AIL 411-DEEP LEARNING LAB</a:t>
            </a:r>
            <a:endParaRPr/>
          </a:p>
        </p:txBody>
      </p:sp>
      <p:sp>
        <p:nvSpPr>
          <p:cNvPr id="106" name="Google Shape;106;p1"/>
          <p:cNvSpPr txBox="1"/>
          <p:nvPr>
            <p:ph idx="1" type="subTitle"/>
          </p:nvPr>
        </p:nvSpPr>
        <p:spPr>
          <a:xfrm>
            <a:off x="1100051" y="4455621"/>
            <a:ext cx="10058400" cy="1143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400"/>
              <a:buNone/>
            </a:pPr>
            <a:r>
              <a:rPr lang="en-US"/>
              <a:t>PREPARED BY: ASHA ROSE THOMAS</a:t>
            </a:r>
            <a:endParaRPr/>
          </a:p>
          <a:p>
            <a:pPr indent="0" lvl="0" marL="0" rtl="0" algn="l">
              <a:lnSpc>
                <a:spcPct val="90000"/>
              </a:lnSpc>
              <a:spcBef>
                <a:spcPts val="1400"/>
              </a:spcBef>
              <a:spcAft>
                <a:spcPts val="0"/>
              </a:spcAft>
              <a:buSzPts val="2400"/>
              <a:buNone/>
            </a:pPr>
            <a:r>
              <a:rPr lang="en-US"/>
              <a:t>AP,CSE(AI),ASIET,KALADY</a:t>
            </a:r>
            <a:endParaRPr/>
          </a:p>
          <a:p>
            <a:pPr indent="0" lvl="0" marL="0" rtl="0" algn="l">
              <a:lnSpc>
                <a:spcPct val="90000"/>
              </a:lnSpc>
              <a:spcBef>
                <a:spcPts val="1400"/>
              </a:spcBef>
              <a:spcAft>
                <a:spcPts val="0"/>
              </a:spcAft>
              <a:buSzPts val="2400"/>
              <a:buNone/>
            </a:pPr>
            <a:r>
              <a:t/>
            </a:r>
            <a:endParaRPr/>
          </a:p>
        </p:txBody>
      </p:sp>
      <p:pic>
        <p:nvPicPr>
          <p:cNvPr id="107" name="Google Shape;107;p1"/>
          <p:cNvPicPr preferRelativeResize="0"/>
          <p:nvPr/>
        </p:nvPicPr>
        <p:blipFill rotWithShape="1">
          <a:blip r:embed="rId3">
            <a:alphaModFix/>
          </a:blip>
          <a:srcRect b="0" l="0" r="0" t="0"/>
          <a:stretch/>
        </p:blipFill>
        <p:spPr>
          <a:xfrm>
            <a:off x="6095999" y="0"/>
            <a:ext cx="6156495" cy="1482015"/>
          </a:xfrm>
          <a:prstGeom prst="rect">
            <a:avLst/>
          </a:prstGeom>
          <a:noFill/>
          <a:ln>
            <a:noFill/>
          </a:ln>
        </p:spPr>
      </p:pic>
      <p:pic>
        <p:nvPicPr>
          <p:cNvPr descr="F:\AISAT Officals\JUNE 2015\OFICIAL DOCUMENTS\banner_1.png" id="108" name="Google Shape;108;p1"/>
          <p:cNvPicPr preferRelativeResize="0"/>
          <p:nvPr/>
        </p:nvPicPr>
        <p:blipFill rotWithShape="1">
          <a:blip r:embed="rId4">
            <a:alphaModFix/>
          </a:blip>
          <a:srcRect b="0" l="0" r="0" t="0"/>
          <a:stretch/>
        </p:blipFill>
        <p:spPr>
          <a:xfrm>
            <a:off x="0" y="0"/>
            <a:ext cx="6156495" cy="119619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EXPERIMENT 8</a:t>
            </a:r>
            <a:endParaRPr/>
          </a:p>
        </p:txBody>
      </p:sp>
      <p:sp>
        <p:nvSpPr>
          <p:cNvPr id="114" name="Google Shape;114;p2"/>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77800" lvl="0" marL="91440" rtl="0" algn="l">
              <a:lnSpc>
                <a:spcPct val="90000"/>
              </a:lnSpc>
              <a:spcBef>
                <a:spcPts val="0"/>
              </a:spcBef>
              <a:spcAft>
                <a:spcPts val="0"/>
              </a:spcAft>
              <a:buSzPts val="2800"/>
              <a:buChar char=" "/>
            </a:pPr>
            <a:r>
              <a:rPr b="0" i="0" lang="en-US" sz="2800" u="none" strike="noStrike">
                <a:latin typeface="Times New Roman"/>
                <a:ea typeface="Times New Roman"/>
                <a:cs typeface="Times New Roman"/>
                <a:sym typeface="Times New Roman"/>
              </a:rPr>
              <a:t>Analyse and visualize the performance change while using LSTM and GRU instead of simple RNN.</a:t>
            </a:r>
            <a:endParaRPr sz="3200"/>
          </a:p>
        </p:txBody>
      </p:sp>
      <p:pic>
        <p:nvPicPr>
          <p:cNvPr id="115" name="Google Shape;115;p2"/>
          <p:cNvPicPr preferRelativeResize="0"/>
          <p:nvPr/>
        </p:nvPicPr>
        <p:blipFill rotWithShape="1">
          <a:blip r:embed="rId3">
            <a:alphaModFix/>
          </a:blip>
          <a:srcRect b="0" l="0" r="0" t="0"/>
          <a:stretch/>
        </p:blipFill>
        <p:spPr>
          <a:xfrm>
            <a:off x="9022634" y="0"/>
            <a:ext cx="3169366" cy="781777"/>
          </a:xfrm>
          <a:prstGeom prst="rect">
            <a:avLst/>
          </a:prstGeom>
          <a:noFill/>
          <a:ln>
            <a:noFill/>
          </a:ln>
        </p:spPr>
      </p:pic>
      <p:sp>
        <p:nvSpPr>
          <p:cNvPr id="116" name="Google Shape;116;p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29-09-2024</a:t>
            </a:r>
            <a:endParaRPr/>
          </a:p>
        </p:txBody>
      </p:sp>
      <p:sp>
        <p:nvSpPr>
          <p:cNvPr id="117" name="Google Shape;117;p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PREPARED BY ASHA ROSE THOMAS, AP, CSE(AI),ASIET, KALADY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Issues with Standard RNN Cells</a:t>
            </a:r>
            <a:endParaRPr/>
          </a:p>
        </p:txBody>
      </p:sp>
      <p:sp>
        <p:nvSpPr>
          <p:cNvPr id="124" name="Google Shape;124;p3"/>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Font typeface="Noto Sans Symbols"/>
              <a:buChar char="❑"/>
            </a:pPr>
            <a:r>
              <a:rPr lang="en-US" sz="2400"/>
              <a:t>Problem: Standard RNN cells struggle with long-term dependencies.</a:t>
            </a:r>
            <a:endParaRPr/>
          </a:p>
          <a:p>
            <a:pPr indent="-152400" lvl="0" marL="91440" rtl="0" algn="l">
              <a:lnSpc>
                <a:spcPct val="90000"/>
              </a:lnSpc>
              <a:spcBef>
                <a:spcPts val="1400"/>
              </a:spcBef>
              <a:spcAft>
                <a:spcPts val="0"/>
              </a:spcAft>
              <a:buSzPts val="2400"/>
              <a:buFont typeface="Noto Sans Symbols"/>
              <a:buChar char="❑"/>
            </a:pPr>
            <a:r>
              <a:rPr lang="en-US" sz="2400"/>
              <a:t>Why?:</a:t>
            </a:r>
            <a:endParaRPr/>
          </a:p>
          <a:p>
            <a:pPr indent="-182880" lvl="1" marL="384048" rtl="0" algn="l">
              <a:lnSpc>
                <a:spcPct val="90000"/>
              </a:lnSpc>
              <a:spcBef>
                <a:spcPts val="400"/>
              </a:spcBef>
              <a:spcAft>
                <a:spcPts val="0"/>
              </a:spcAft>
              <a:buSzPts val="2000"/>
              <a:buFont typeface="Noto Sans Symbols"/>
              <a:buChar char="❑"/>
            </a:pPr>
            <a:r>
              <a:rPr lang="en-US" sz="2000"/>
              <a:t>Vanishing Gradient: Gradients become too small, hindering learning.</a:t>
            </a:r>
            <a:endParaRPr/>
          </a:p>
          <a:p>
            <a:pPr indent="-182880" lvl="1" marL="384048" rtl="0" algn="l">
              <a:lnSpc>
                <a:spcPct val="90000"/>
              </a:lnSpc>
              <a:spcBef>
                <a:spcPts val="600"/>
              </a:spcBef>
              <a:spcAft>
                <a:spcPts val="0"/>
              </a:spcAft>
              <a:buSzPts val="2000"/>
              <a:buFont typeface="Noto Sans Symbols"/>
              <a:buChar char="❑"/>
            </a:pPr>
            <a:r>
              <a:rPr lang="en-US" sz="2000"/>
              <a:t>Exploding Gradient: Gradients become too large, causing instability.</a:t>
            </a:r>
            <a:endParaRPr/>
          </a:p>
          <a:p>
            <a:pPr indent="-152400" lvl="0" marL="91440" rtl="0" algn="l">
              <a:lnSpc>
                <a:spcPct val="90000"/>
              </a:lnSpc>
              <a:spcBef>
                <a:spcPts val="1600"/>
              </a:spcBef>
              <a:spcAft>
                <a:spcPts val="0"/>
              </a:spcAft>
              <a:buSzPts val="2400"/>
              <a:buFont typeface="Noto Sans Symbols"/>
              <a:buChar char="❑"/>
            </a:pPr>
            <a:r>
              <a:rPr lang="en-US" sz="2400"/>
              <a:t>Need for Advanced Architectures</a:t>
            </a:r>
            <a:endParaRPr/>
          </a:p>
          <a:p>
            <a:pPr indent="-182880" lvl="1" marL="384048" rtl="0" algn="l">
              <a:lnSpc>
                <a:spcPct val="90000"/>
              </a:lnSpc>
              <a:spcBef>
                <a:spcPts val="400"/>
              </a:spcBef>
              <a:spcAft>
                <a:spcPts val="0"/>
              </a:spcAft>
              <a:buSzPts val="2000"/>
              <a:buFont typeface="Noto Sans Symbols"/>
              <a:buChar char="❑"/>
            </a:pPr>
            <a:r>
              <a:rPr lang="en-US" sz="2000"/>
              <a:t>Solution: Use LSTM (Long Short-Term Memory) and GRU (Gated Recurrent Unit) cells.</a:t>
            </a:r>
            <a:endParaRPr/>
          </a:p>
          <a:p>
            <a:pPr indent="-182880" lvl="1" marL="384048" rtl="0" algn="l">
              <a:lnSpc>
                <a:spcPct val="90000"/>
              </a:lnSpc>
              <a:spcBef>
                <a:spcPts val="600"/>
              </a:spcBef>
              <a:spcAft>
                <a:spcPts val="0"/>
              </a:spcAft>
              <a:buSzPts val="2000"/>
              <a:buFont typeface="Noto Sans Symbols"/>
              <a:buChar char="❑"/>
            </a:pPr>
            <a:r>
              <a:rPr lang="en-US" sz="2000"/>
              <a:t>How They Help:</a:t>
            </a:r>
            <a:endParaRPr/>
          </a:p>
          <a:p>
            <a:pPr indent="-182880" lvl="2" marL="566928" rtl="0" algn="l">
              <a:lnSpc>
                <a:spcPct val="90000"/>
              </a:lnSpc>
              <a:spcBef>
                <a:spcPts val="600"/>
              </a:spcBef>
              <a:spcAft>
                <a:spcPts val="0"/>
              </a:spcAft>
              <a:buSzPts val="1600"/>
              <a:buFont typeface="Noto Sans Symbols"/>
              <a:buChar char="❑"/>
            </a:pPr>
            <a:r>
              <a:rPr lang="en-US" sz="1600"/>
              <a:t>LSTM: Uses gates to manage information flow, retaining long-term dependencies.</a:t>
            </a:r>
            <a:endParaRPr/>
          </a:p>
          <a:p>
            <a:pPr indent="-182880" lvl="2" marL="566928" rtl="0" algn="l">
              <a:lnSpc>
                <a:spcPct val="90000"/>
              </a:lnSpc>
              <a:spcBef>
                <a:spcPts val="600"/>
              </a:spcBef>
              <a:spcAft>
                <a:spcPts val="0"/>
              </a:spcAft>
              <a:buSzPts val="1600"/>
              <a:buFont typeface="Noto Sans Symbols"/>
              <a:buChar char="❑"/>
            </a:pPr>
            <a:r>
              <a:rPr lang="en-US" sz="1600"/>
              <a:t>GRU: Similar to LSTM but simpler, effectively handling long-term dependencies.</a:t>
            </a:r>
            <a:endParaRPr sz="1600"/>
          </a:p>
        </p:txBody>
      </p:sp>
      <p:sp>
        <p:nvSpPr>
          <p:cNvPr id="125" name="Google Shape;125;p3"/>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29-09-2024</a:t>
            </a:r>
            <a:endParaRPr/>
          </a:p>
        </p:txBody>
      </p:sp>
      <p:sp>
        <p:nvSpPr>
          <p:cNvPr id="126" name="Google Shape;126;p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PREPARED BY ASHA ROSE THOMAS, AP, CSE(AI),ASIET, KALADY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Long Short-Term Memory (LSTM)</a:t>
            </a:r>
            <a:endParaRPr/>
          </a:p>
        </p:txBody>
      </p:sp>
      <p:sp>
        <p:nvSpPr>
          <p:cNvPr id="133" name="Google Shape;133;p4"/>
          <p:cNvSpPr txBox="1"/>
          <p:nvPr>
            <p:ph idx="1" type="body"/>
          </p:nvPr>
        </p:nvSpPr>
        <p:spPr>
          <a:xfrm>
            <a:off x="1097280" y="1845734"/>
            <a:ext cx="6493223" cy="4319092"/>
          </a:xfrm>
          <a:prstGeom prst="rect">
            <a:avLst/>
          </a:prstGeom>
          <a:noFill/>
          <a:ln>
            <a:noFill/>
          </a:ln>
        </p:spPr>
        <p:txBody>
          <a:bodyPr anchorCtr="0" anchor="t" bIns="45700" lIns="0" spcFirstLastPara="1" rIns="0" wrap="square" tIns="45700">
            <a:normAutofit fontScale="92500" lnSpcReduction="10000"/>
          </a:bodyPr>
          <a:lstStyle/>
          <a:p>
            <a:pPr indent="-117475" lvl="0" marL="91440" rtl="0" algn="l">
              <a:lnSpc>
                <a:spcPct val="90000"/>
              </a:lnSpc>
              <a:spcBef>
                <a:spcPts val="0"/>
              </a:spcBef>
              <a:spcAft>
                <a:spcPts val="0"/>
              </a:spcAft>
              <a:buSzPct val="100000"/>
              <a:buFont typeface="Noto Sans Symbols"/>
              <a:buChar char="❑"/>
            </a:pPr>
            <a:r>
              <a:rPr b="0" i="0" lang="en-US">
                <a:solidFill>
                  <a:srgbClr val="383838"/>
                </a:solidFill>
                <a:highlight>
                  <a:srgbClr val="FFFFFF"/>
                </a:highlight>
                <a:latin typeface="Inter"/>
                <a:ea typeface="Inter"/>
                <a:cs typeface="Inter"/>
                <a:sym typeface="Inter"/>
              </a:rPr>
              <a:t>Handles:</a:t>
            </a:r>
            <a:endParaRPr/>
          </a:p>
          <a:p>
            <a:pPr indent="-182879" lvl="1" marL="384048" rtl="0" algn="l">
              <a:lnSpc>
                <a:spcPct val="90000"/>
              </a:lnSpc>
              <a:spcBef>
                <a:spcPts val="400"/>
              </a:spcBef>
              <a:spcAft>
                <a:spcPts val="0"/>
              </a:spcAft>
              <a:buSzPct val="100000"/>
              <a:buFont typeface="Noto Sans Symbols"/>
              <a:buChar char="❑"/>
            </a:pPr>
            <a:r>
              <a:rPr b="0" i="0" lang="en-US">
                <a:solidFill>
                  <a:srgbClr val="383838"/>
                </a:solidFill>
                <a:highlight>
                  <a:srgbClr val="FFFFFF"/>
                </a:highlight>
                <a:latin typeface="Inter"/>
                <a:ea typeface="Inter"/>
                <a:cs typeface="Inter"/>
                <a:sym typeface="Inter"/>
              </a:rPr>
              <a:t>Long Term Memory (LTM)</a:t>
            </a:r>
            <a:endParaRPr/>
          </a:p>
          <a:p>
            <a:pPr indent="-182879" lvl="1" marL="384048" rtl="0" algn="l">
              <a:lnSpc>
                <a:spcPct val="90000"/>
              </a:lnSpc>
              <a:spcBef>
                <a:spcPts val="600"/>
              </a:spcBef>
              <a:spcAft>
                <a:spcPts val="0"/>
              </a:spcAft>
              <a:buSzPct val="100000"/>
              <a:buFont typeface="Noto Sans Symbols"/>
              <a:buChar char="❑"/>
            </a:pPr>
            <a:r>
              <a:rPr b="0" i="0" lang="en-US">
                <a:solidFill>
                  <a:srgbClr val="383838"/>
                </a:solidFill>
                <a:highlight>
                  <a:srgbClr val="FFFFFF"/>
                </a:highlight>
                <a:latin typeface="Inter"/>
                <a:ea typeface="Inter"/>
                <a:cs typeface="Inter"/>
                <a:sym typeface="Inter"/>
              </a:rPr>
              <a:t>Short Term Memory (STM)</a:t>
            </a:r>
            <a:endParaRPr/>
          </a:p>
          <a:p>
            <a:pPr indent="-117475" lvl="0" marL="91440" rtl="0" algn="l">
              <a:lnSpc>
                <a:spcPct val="90000"/>
              </a:lnSpc>
              <a:spcBef>
                <a:spcPts val="1600"/>
              </a:spcBef>
              <a:spcAft>
                <a:spcPts val="0"/>
              </a:spcAft>
              <a:buSzPct val="100000"/>
              <a:buFont typeface="Noto Sans Symbols"/>
              <a:buChar char="❑"/>
            </a:pPr>
            <a:r>
              <a:rPr lang="en-US"/>
              <a:t>Gates:</a:t>
            </a:r>
            <a:endParaRPr/>
          </a:p>
          <a:p>
            <a:pPr indent="-182879" lvl="1" marL="384048" rtl="0" algn="l">
              <a:lnSpc>
                <a:spcPct val="90000"/>
              </a:lnSpc>
              <a:spcBef>
                <a:spcPts val="400"/>
              </a:spcBef>
              <a:spcAft>
                <a:spcPts val="0"/>
              </a:spcAft>
              <a:buSzPct val="100000"/>
              <a:buFont typeface="Noto Sans Symbols"/>
              <a:buChar char="❑"/>
            </a:pPr>
            <a:r>
              <a:rPr b="0" i="0" lang="en-US">
                <a:solidFill>
                  <a:srgbClr val="111111"/>
                </a:solidFill>
                <a:highlight>
                  <a:srgbClr val="F7F7F7"/>
                </a:highlight>
                <a:latin typeface="Arial"/>
                <a:ea typeface="Arial"/>
                <a:cs typeface="Arial"/>
                <a:sym typeface="Arial"/>
              </a:rPr>
              <a:t>To simplify and optimize calculations, it uses gates.</a:t>
            </a:r>
            <a:endParaRPr/>
          </a:p>
          <a:p>
            <a:pPr indent="-182879" lvl="1" marL="384048" rtl="0" algn="l">
              <a:lnSpc>
                <a:spcPct val="90000"/>
              </a:lnSpc>
              <a:spcBef>
                <a:spcPts val="600"/>
              </a:spcBef>
              <a:spcAft>
                <a:spcPts val="0"/>
              </a:spcAft>
              <a:buSzPct val="100000"/>
              <a:buFont typeface="Noto Sans Symbols"/>
              <a:buChar char="❑"/>
            </a:pPr>
            <a:r>
              <a:rPr lang="en-US"/>
              <a:t>Forget Gate: Decides what information to discard.</a:t>
            </a:r>
            <a:endParaRPr/>
          </a:p>
          <a:p>
            <a:pPr indent="-182879" lvl="1" marL="384048" rtl="0" algn="l">
              <a:lnSpc>
                <a:spcPct val="90000"/>
              </a:lnSpc>
              <a:spcBef>
                <a:spcPts val="600"/>
              </a:spcBef>
              <a:spcAft>
                <a:spcPts val="0"/>
              </a:spcAft>
              <a:buSzPct val="100000"/>
              <a:buFont typeface="Noto Sans Symbols"/>
              <a:buChar char="❑"/>
            </a:pPr>
            <a:r>
              <a:rPr lang="en-US"/>
              <a:t>Input Gate: Determines what new information to add.</a:t>
            </a:r>
            <a:endParaRPr/>
          </a:p>
          <a:p>
            <a:pPr indent="-182879" lvl="1" marL="384048" rtl="0" algn="l">
              <a:lnSpc>
                <a:spcPct val="90000"/>
              </a:lnSpc>
              <a:spcBef>
                <a:spcPts val="600"/>
              </a:spcBef>
              <a:spcAft>
                <a:spcPts val="0"/>
              </a:spcAft>
              <a:buSzPct val="100000"/>
              <a:buFont typeface="Noto Sans Symbols"/>
              <a:buChar char="❑"/>
            </a:pPr>
            <a:r>
              <a:rPr lang="en-US"/>
              <a:t>Output Gate: Controls the output based on the cell state.</a:t>
            </a:r>
            <a:endParaRPr/>
          </a:p>
          <a:p>
            <a:pPr indent="-117475" lvl="0" marL="91440" rtl="0" algn="l">
              <a:lnSpc>
                <a:spcPct val="90000"/>
              </a:lnSpc>
              <a:spcBef>
                <a:spcPts val="1600"/>
              </a:spcBef>
              <a:spcAft>
                <a:spcPts val="0"/>
              </a:spcAft>
              <a:buSzPct val="100000"/>
              <a:buFont typeface="Noto Sans Symbols"/>
              <a:buChar char="❑"/>
            </a:pPr>
            <a:r>
              <a:rPr lang="en-US"/>
              <a:t>Cell State</a:t>
            </a:r>
            <a:endParaRPr/>
          </a:p>
          <a:p>
            <a:pPr indent="-182879" lvl="1" marL="384048" rtl="0" algn="l">
              <a:lnSpc>
                <a:spcPct val="90000"/>
              </a:lnSpc>
              <a:spcBef>
                <a:spcPts val="400"/>
              </a:spcBef>
              <a:spcAft>
                <a:spcPts val="0"/>
              </a:spcAft>
              <a:buSzPct val="100000"/>
              <a:buFont typeface="Noto Sans Symbols"/>
              <a:buChar char="❑"/>
            </a:pPr>
            <a:r>
              <a:rPr lang="en-US"/>
              <a:t>Maintains long-term memory by carrying information across the sequence. </a:t>
            </a:r>
            <a:endParaRPr/>
          </a:p>
          <a:p>
            <a:pPr indent="-182879" lvl="1" marL="384048" rtl="0" algn="l">
              <a:lnSpc>
                <a:spcPct val="90000"/>
              </a:lnSpc>
              <a:spcBef>
                <a:spcPts val="600"/>
              </a:spcBef>
              <a:spcAft>
                <a:spcPts val="0"/>
              </a:spcAft>
              <a:buSzPct val="100000"/>
              <a:buFont typeface="Noto Sans Symbols"/>
              <a:buChar char="❑"/>
            </a:pPr>
            <a:r>
              <a:rPr lang="en-US"/>
              <a:t>Process:</a:t>
            </a:r>
            <a:endParaRPr/>
          </a:p>
          <a:p>
            <a:pPr indent="-182880" lvl="2" marL="566928" rtl="0" algn="l">
              <a:lnSpc>
                <a:spcPct val="90000"/>
              </a:lnSpc>
              <a:spcBef>
                <a:spcPts val="600"/>
              </a:spcBef>
              <a:spcAft>
                <a:spcPts val="0"/>
              </a:spcAft>
              <a:buSzPct val="100000"/>
              <a:buFont typeface="Noto Sans Symbols"/>
              <a:buChar char="❑"/>
            </a:pPr>
            <a:r>
              <a:rPr lang="en-US"/>
              <a:t>Combines the previous cell state with the new information.</a:t>
            </a:r>
            <a:endParaRPr/>
          </a:p>
          <a:p>
            <a:pPr indent="-182880" lvl="2" marL="566928" rtl="0" algn="l">
              <a:lnSpc>
                <a:spcPct val="90000"/>
              </a:lnSpc>
              <a:spcBef>
                <a:spcPts val="600"/>
              </a:spcBef>
              <a:spcAft>
                <a:spcPts val="0"/>
              </a:spcAft>
              <a:buSzPct val="100000"/>
              <a:buFont typeface="Noto Sans Symbols"/>
              <a:buChar char="❑"/>
            </a:pPr>
            <a:r>
              <a:rPr lang="en-US"/>
              <a:t>Uses the forget gate to remove irrelevant information.</a:t>
            </a:r>
            <a:endParaRPr/>
          </a:p>
          <a:p>
            <a:pPr indent="-182880" lvl="2" marL="566928" rtl="0" algn="l">
              <a:lnSpc>
                <a:spcPct val="90000"/>
              </a:lnSpc>
              <a:spcBef>
                <a:spcPts val="600"/>
              </a:spcBef>
              <a:spcAft>
                <a:spcPts val="0"/>
              </a:spcAft>
              <a:buSzPct val="100000"/>
              <a:buFont typeface="Noto Sans Symbols"/>
              <a:buChar char="❑"/>
            </a:pPr>
            <a:r>
              <a:rPr lang="en-US"/>
              <a:t>Uses the input gate to add relevant new information.</a:t>
            </a:r>
            <a:endParaRPr/>
          </a:p>
        </p:txBody>
      </p:sp>
      <p:sp>
        <p:nvSpPr>
          <p:cNvPr id="134" name="Google Shape;134;p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29-09-2024</a:t>
            </a:r>
            <a:endParaRPr/>
          </a:p>
        </p:txBody>
      </p:sp>
      <p:sp>
        <p:nvSpPr>
          <p:cNvPr id="135" name="Google Shape;135;p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PREPARED BY ASHA ROSE THOMAS, AP, CSE(AI),ASIET, KALADY</a:t>
            </a:r>
            <a:endParaRPr/>
          </a:p>
        </p:txBody>
      </p:sp>
      <p:pic>
        <p:nvPicPr>
          <p:cNvPr descr="Understanding LSTM: An In-depth Look at its Architecture, Functioning, and  Pros &amp; Cons" id="136" name="Google Shape;136;p4"/>
          <p:cNvPicPr preferRelativeResize="0"/>
          <p:nvPr/>
        </p:nvPicPr>
        <p:blipFill rotWithShape="1">
          <a:blip r:embed="rId3">
            <a:alphaModFix/>
          </a:blip>
          <a:srcRect b="0" l="0" r="0" t="0"/>
          <a:stretch/>
        </p:blipFill>
        <p:spPr>
          <a:xfrm>
            <a:off x="7314288" y="1845734"/>
            <a:ext cx="5403134" cy="424043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Gated Recurrent Unit(GRU) Cell</a:t>
            </a:r>
            <a:endParaRPr/>
          </a:p>
        </p:txBody>
      </p:sp>
      <p:sp>
        <p:nvSpPr>
          <p:cNvPr id="143" name="Google Shape;143;p5"/>
          <p:cNvSpPr txBox="1"/>
          <p:nvPr>
            <p:ph idx="1" type="body"/>
          </p:nvPr>
        </p:nvSpPr>
        <p:spPr>
          <a:xfrm>
            <a:off x="1097280" y="1845734"/>
            <a:ext cx="4427375"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Noto Sans Symbols"/>
              <a:buChar char="❑"/>
            </a:pPr>
            <a:r>
              <a:rPr lang="en-US"/>
              <a:t>Reset Gate</a:t>
            </a:r>
            <a:endParaRPr/>
          </a:p>
          <a:p>
            <a:pPr indent="-182880" lvl="1" marL="384048" rtl="0" algn="l">
              <a:lnSpc>
                <a:spcPct val="90000"/>
              </a:lnSpc>
              <a:spcBef>
                <a:spcPts val="400"/>
              </a:spcBef>
              <a:spcAft>
                <a:spcPts val="0"/>
              </a:spcAft>
              <a:buSzPts val="1800"/>
              <a:buFont typeface="Noto Sans Symbols"/>
              <a:buChar char="❑"/>
            </a:pPr>
            <a:r>
              <a:rPr lang="en-US"/>
              <a:t>Controls how much past information to forget.</a:t>
            </a:r>
            <a:endParaRPr/>
          </a:p>
          <a:p>
            <a:pPr indent="-127000" lvl="0" marL="91440" rtl="0" algn="l">
              <a:lnSpc>
                <a:spcPct val="90000"/>
              </a:lnSpc>
              <a:spcBef>
                <a:spcPts val="1600"/>
              </a:spcBef>
              <a:spcAft>
                <a:spcPts val="0"/>
              </a:spcAft>
              <a:buSzPts val="2000"/>
              <a:buFont typeface="Noto Sans Symbols"/>
              <a:buChar char="❑"/>
            </a:pPr>
            <a:r>
              <a:rPr lang="en-US"/>
              <a:t>Update Gate</a:t>
            </a:r>
            <a:endParaRPr/>
          </a:p>
          <a:p>
            <a:pPr indent="-182880" lvl="1" marL="384048" rtl="0" algn="l">
              <a:lnSpc>
                <a:spcPct val="90000"/>
              </a:lnSpc>
              <a:spcBef>
                <a:spcPts val="400"/>
              </a:spcBef>
              <a:spcAft>
                <a:spcPts val="0"/>
              </a:spcAft>
              <a:buSzPts val="1800"/>
              <a:buFont typeface="Noto Sans Symbols"/>
              <a:buChar char="❑"/>
            </a:pPr>
            <a:r>
              <a:rPr lang="en-US"/>
              <a:t>Decides how much new information to add and what old information to keep.</a:t>
            </a:r>
            <a:endParaRPr/>
          </a:p>
          <a:p>
            <a:pPr indent="-127000" lvl="0" marL="91440" rtl="0" algn="l">
              <a:lnSpc>
                <a:spcPct val="90000"/>
              </a:lnSpc>
              <a:spcBef>
                <a:spcPts val="1600"/>
              </a:spcBef>
              <a:spcAft>
                <a:spcPts val="0"/>
              </a:spcAft>
              <a:buSzPts val="2000"/>
              <a:buFont typeface="Noto Sans Symbols"/>
              <a:buChar char="❑"/>
            </a:pPr>
            <a:r>
              <a:rPr lang="en-US"/>
              <a:t>How It Works Together</a:t>
            </a:r>
            <a:endParaRPr/>
          </a:p>
          <a:p>
            <a:pPr indent="-182880" lvl="1" marL="384048" rtl="0" algn="l">
              <a:lnSpc>
                <a:spcPct val="90000"/>
              </a:lnSpc>
              <a:spcBef>
                <a:spcPts val="400"/>
              </a:spcBef>
              <a:spcAft>
                <a:spcPts val="0"/>
              </a:spcAft>
              <a:buSzPts val="1800"/>
              <a:buFont typeface="Noto Sans Symbols"/>
              <a:buChar char="❑"/>
            </a:pPr>
            <a:r>
              <a:rPr lang="en-US"/>
              <a:t>Filtering Old Information: Reset gate helps forget irrelevant past information.</a:t>
            </a:r>
            <a:endParaRPr/>
          </a:p>
          <a:p>
            <a:pPr indent="-182880" lvl="1" marL="384048" rtl="0" algn="l">
              <a:lnSpc>
                <a:spcPct val="90000"/>
              </a:lnSpc>
              <a:spcBef>
                <a:spcPts val="600"/>
              </a:spcBef>
              <a:spcAft>
                <a:spcPts val="0"/>
              </a:spcAft>
              <a:buSzPts val="1800"/>
              <a:buFont typeface="Noto Sans Symbols"/>
              <a:buChar char="❑"/>
            </a:pPr>
            <a:r>
              <a:rPr lang="en-US"/>
              <a:t>Updating Memory: Update gate adds new information while keeping important past details.</a:t>
            </a:r>
            <a:endParaRPr/>
          </a:p>
        </p:txBody>
      </p:sp>
      <p:sp>
        <p:nvSpPr>
          <p:cNvPr id="144" name="Google Shape;144;p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29-09-2024</a:t>
            </a:r>
            <a:endParaRPr/>
          </a:p>
        </p:txBody>
      </p:sp>
      <p:sp>
        <p:nvSpPr>
          <p:cNvPr id="145" name="Google Shape;145;p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PREPARED BY ASHA ROSE THOMAS, AP, CSE(AI),ASIET, KALADY</a:t>
            </a:r>
            <a:endParaRPr/>
          </a:p>
        </p:txBody>
      </p:sp>
      <p:pic>
        <p:nvPicPr>
          <p:cNvPr descr="Gated Recurrent Unit (GRU) | Download Scientific Diagram" id="146" name="Google Shape;146;p5"/>
          <p:cNvPicPr preferRelativeResize="0"/>
          <p:nvPr/>
        </p:nvPicPr>
        <p:blipFill rotWithShape="1">
          <a:blip r:embed="rId3">
            <a:alphaModFix/>
          </a:blip>
          <a:srcRect b="0" l="0" r="0" t="0"/>
          <a:stretch/>
        </p:blipFill>
        <p:spPr>
          <a:xfrm>
            <a:off x="5524655" y="2013224"/>
            <a:ext cx="6334125" cy="3981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Reference</a:t>
            </a:r>
            <a:endParaRPr/>
          </a:p>
        </p:txBody>
      </p:sp>
      <p:sp>
        <p:nvSpPr>
          <p:cNvPr id="152" name="Google Shape;152;p6"/>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br>
              <a:rPr lang="en-US"/>
            </a:br>
            <a:endParaRPr/>
          </a:p>
          <a:p>
            <a:pPr indent="0" lvl="0" marL="91440" rtl="0" algn="l">
              <a:lnSpc>
                <a:spcPct val="90000"/>
              </a:lnSpc>
              <a:spcBef>
                <a:spcPts val="1400"/>
              </a:spcBef>
              <a:spcAft>
                <a:spcPts val="0"/>
              </a:spcAft>
              <a:buSzPts val="2000"/>
              <a:buNone/>
            </a:pPr>
            <a:r>
              <a:t/>
            </a:r>
            <a:endParaRPr/>
          </a:p>
        </p:txBody>
      </p:sp>
      <p:pic>
        <p:nvPicPr>
          <p:cNvPr id="153" name="Google Shape;153;p6"/>
          <p:cNvPicPr preferRelativeResize="0"/>
          <p:nvPr/>
        </p:nvPicPr>
        <p:blipFill rotWithShape="1">
          <a:blip r:embed="rId3">
            <a:alphaModFix/>
          </a:blip>
          <a:srcRect b="0" l="0" r="0" t="0"/>
          <a:stretch/>
        </p:blipFill>
        <p:spPr>
          <a:xfrm>
            <a:off x="9022634" y="0"/>
            <a:ext cx="3169366" cy="78177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2024-07-14T14:57:03Z</dcterms:created>
  <dc:creator>Asha Rose Thomas</dc:creator>
</cp:coreProperties>
</file>